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~19s.
Lời đọc: "Xin chào cô. Em là [SV XÁC NHẬN — họ tên], mã số sinh viên [SV XÁC NHẬN]. Đây là video demo bài tập lớn: bài toán tô màu đồ thị, hay bài toán Sở thú, với năm chiến lược giải và minh họa từng bước."
[CHUYỂN SANG DEMO: mở algorithm-visualizer.hieutk.dev, đứng yên 2 giây ở trang chủ trước khi quay lại slide]
[SV XÁC NHẬN: điền họ tên, MSSV, tên giảng viên trước khi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~42s.
Lời đọc: "Lý do đầu tiên: cô nhận xét phần thiết kế thuật toán của nhiều bạn còn yếu, và nêu đúng ví dụ bài Sở thú là bài toán tô màu đồ thị. Lý do thứ hai: em cho ba mô hình AI tranh luận chiến lược làm bài, và cả ba cùng đề xuất tô màu đồ thị, vì có nhiều cách giải để so sánh và trạng thái từng bước dễ minh họa. Bài toán bắt nguồn từ bài toán bốn màu của Guthrie, được trình bày trong sách Levitin, với hai heuristic nổi tiếng là Welsh–Powell và DSATUR."
[SV XÁC NHẬN: viết lại lý do bằng lời của chính mình trước khi quay]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~16s.
Lời đọc: "Tô màu đồ thị có nhiều ứng dụng: xếp lịch thi, phân chuồng sở thú hay phân phòng khách, cấp phát thanh ghi trong trình biên dịch, phân tần số trạm phát sóng — và ngay cả Sudoku cũng là một bài toán tô chín màu trên đồ thị tám mươi mốt đỉnh."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~16s.
Lời đọc: "Bài toán bắt đầu từ một sở thú: có những loài không thể nhốt chung chuồng. Với k chuồng, có xếp được tất cả các loài sao cho không chuồng nào có hai loài kỵ nhau hay không. App còn có chế độ mở rộng: tìm sắc số, tức số chuồng ít nhất cần dùng."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~32s.
Lời đọc: "Em mô hình hoá bài toán bằng đồ thị: mỗi loài là một đỉnh, mỗi cặp kỵ nhau là một cạnh, mỗi chuồng là một màu. Cần phân biệt ba khái niệm: tô màu hợp lệ do checker kiểm tra, bài toán k màu — app gọi là k-coloring — và sắc số χ(G), tức chế độ chromatic. Với k từ 3 bài toán thuộc lớp NP-đầy đủ; k bằng 2 giải được trong thời gian đa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~22s.
Lời đọc: "Dữ liệu vào là JSON: danh sách đỉnh, danh sách cạnh, số màu k, và chế độ. Thứ tự đỉnh chính là thứ tự duyệt của greedy, quay lui và vét cạn. Found bằng false từ heuristic chỉ nghĩa là chưa tìm được, không khẳng định vô nghiệm; từ thuật toán chính xác thì khẳng định chắc chắn. App giới hạn 320 đỉnh cho heuristic, 9–10 đỉnh cho quay lui, một ngưỡng an toàn theo kⁿ cho vét cạn."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~21s.
Lời đọc: "Một tam giác cần đúng ba màu; với hai màu thì vô nghiệm. Đồ thị vương miện — ví dụ chung của toàn bài — tô được bằng hai màu nhưng tham lam và Welsh–Powell lại thất bại. Dữ liệu sai như số màu bằng không bị app từ chối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~16s.
Lời đọc: "Danh sách đỉnh có thứ tự quyết định thứ tự duyệt; tập cạnh lưu dạng tập hợp để kiểm tra kề nhau nhanh; độ bão hòa dùng riêng cho DSATUR. Quan trọng nhất là bản ghi trace từng bước — chính là thứ Player dùng để minh họa."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~24s.
Lời đọc: "Một clique kích thước ω cần ít nhất ω màu — chặn dưới. Mọi đồ thị tô được bằng Δ cộng 1 màu — chặn trên. Thứ tự duyệt quyết định chất lượng tham lam: trên đồ thị vương miện bên phải, thứ tự xen kẽ A1, B1, A2, B2 buộc tham lam dùng nhiều màu hơn cần. Nên ưu tiên tô đỉnh khó trước, và với thuật toán chính xác, cắt nhánh sớm giúp duyệt ít hơn vét cạn."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~22s.
Lời đọc: "Greedy tô mỗi đỉnh bằng màu nhỏ nhất chưa dùng ở đỉnh kề — không bảo đảm tìm được cách tô dù nó tồn tại. Welsh–Powell chỉ khác ở một điểm: sắp đỉnh theo bậc giảm dần trước. Nhưng trên vương miện mọi đỉnh cùng bậc hai, nên thứ tự không đổi — Welsh–Powell gặp đúng khó khăn của greedy."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~22s.
Lời đọc: "DSATUR, do Brélaz công bố năm 1979, mỗi vòng chọn đỉnh chưa tô có độ bão hòa lớn nhất — hòa thì chọn bậc lớn hơn. Nó luôn tô đúng hai màu trên đồ thị hai phía, nên trên ví dụ chung nó thành công trong khi greedy thất bại. Trong app, vì mỗi vòng quét lại mọi cặp đỉnh, chi phí là O(n lập phương cộng 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~24s.
Lời đọc: "Quay lui thử từng màu cho mỗi đỉnh; trùng màu đỉnh kề thì loại, hết màu thì quay lui lên đỉnh trước. Vì mọi nhánh bị cắt đã vi phạm ràng buộc, trả về false sau khi duyệt hết nghĩa là chắc chắn không có cách tô — khác biệt quan trọng so với heuristic. Việc cắt nhánh giảm số nút phải thăm rất nhiều. Ở chế độ sắc số, nó còn tính chặn dưới bằng clique và chặn trên bằng DSATUR."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~16s.
Lời đọc: "Vét cạn sinh tất cả kⁿ cách gán màu, trả về nghiệm đầu tiên hợp lệ — mốc để so sánh hiệu quả cắt nhánh của quay lui. App chỉ cho chạy an toàn khi kⁿ không vượt hai trăm nghìn."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~16s.
Lời đọc: "Ba heuristic chạy nhanh nhưng không kết luận chắc chắn. Quay lui và vét cạn chắc chắn, nhưng chỉ an toàn với đồ thị rất nhỏ — đánh đổi giữa nhanh mà không chắc chắn, và chắc chắn mà tốn chi phí."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~18s.
Lời đọc: "Ví dụ chung là đồ thị vương miện sáu đỉnh: nhóm A và nhóm B, loài Ai kỵ mọi loài Bj trừ Bi. Đây là đồ thị hai phía nên χ bằng 2, nhưng em cố ý nhập thứ tự xen kẽ A, B, A, B để thử thách các thuật toán. DSATUR tránh được bẫy này vì luôn ưu tiên đỉnh bị ràng buộc nhiều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slide: ~12s + demo ~18s (tổng ~30s).
Lời đọc: "Bây giờ em nhập ví dụ chung: sáu loài A1, B1, A2, B2, A3, B3; loài Ai kỵ loài Bj khi i khác j; k bằng 2. Đây là đồ thị hai phía, nhưng em cố ý nhập thứ tự xen kẽ để thử thách các thuật toán."
[CHUYỂN SANG DEMO: https://algorithm-visualizer.hieutk.dev/play/graph-coloring/backtracking → tab "Chỉnh JSON" → dán JSON ở cột phải → quan sát khung đồ thị cập nhật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slide: ~16s + demo ~20s (tổng ~36s).
Lời đọc: "Em bấm Tiến bước từng bước. Bước 2–3: A1 và B1 nhận màu 0. Bước 4–7: màu trùng đỉnh kề bị loại, A2 và B2 nhận màu 1. Bước 8–9: A3 kề cả B1 (0) lẫn B2 (1), cả hai màu bị loại — bế tắc. Em chuyển sang view cây trạng thái để xem hai nhánh này bị cắt."
[CHUYỂN SANG DEMO: Player quay lui, bấm "Chạy" rồi bấm "Tiến bước" 9 lần tới bước 9; dừng ~5 giây ở bước 9; bấm nút chuyển view sang "Cây trạng thái" và zoom vào hai nhánh bị loại dưới A3; chuyển lại view "Đồ thị"]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slide: ~20s + demo ~20s (tổng ~40s).
Lời đọc: "Bước 10–12: quay lui qua B2, qua A2, dừng ở B1 — gốc của bế tắc là B1 cùng màu với A1. Bước 13: B1 đổi sang màu 1, và đến bước 20 thì tô xong — hai mươi bước, sáu lần cắt nhánh. Em có thể lùi về bất kỳ bước nào. Checker xác nhận đây là cách tô hợp lệ."
[CHUYỂN SANG DEMO: tiếp tục bấm "Tiến bước" tới bước 20; bấm "Lùi bước" về bước 12 để minh họa có thể xem lại; chỉ vào vùng kết quả/checker ở dưới Player]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slide: ~16s + demo ~18s (tổng ~34s).
Lời đọc: "Trên trang So sánh, cả năm thuật toán chạy cùng lúc trên cùng đồ thị. Greedy và Welsh– Powell đều báo chưa tìm được. DSATUR thành công trong mười bốn bước. Quay lui chỉ cần hai mươi bước so với sáu mươi chín của vét cạn — hiệu quả của cắt nhánh sớm."
[CHUYỂN SANG DEMO: https://algorithm-visualizer.hieutk.dev/compare/graph-coloring → dán lại JSON ví dụ chung vào trình nhập → bấm "Chạy tất cả" → zoom vào cột số bước/phép toán]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slide: ~14s + demo ~14s (tổng ~28s).
Lời đọc: "Ở chế độ tìm sắc số, greedy tô được nhưng dùng ba màu, trong khi χ thật chỉ bằng hai. DSATUR, quay lui và vét cạn đều dùng đúng hai màu — một góc nhìn khác của cùng phản ví dụ."
[CHUYỂN SANG DEMO: vẫn ở trang So sánh, trong trình nhập đổi chế độ sang "Tìm sắc số χ(G)" → bấm "Chạy tất cả" lại → chỉ vào cột "Giá trị" (số màu)]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slide: ~14s + demo ~16s (tổng ~30s).
Lời đọc: "Đây là trang Player. Bên trái là thanh điều hướng theo chương, kỹ thuật hoặc tên bài. Phía trên là nút chuyển nhanh giữa năm cách giải. Giữa là khung đồ thị, cho thấy màu từng đỉnh và đỉnh đang xét."
[CHUYỂN SANG DEMO: /play/graph-coloring/backtracking → lướt qua thanh bên, nút chuyển 5 thuật toán, trình nhập liệu (JSON / sinh ngẫu nhiên / mẫu), rồi khung đồ thị — không bấm chạy]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slide: ~16s + demo ~16s (tổng ~32s).
Lời đọc: "Bên cạnh là mã giả với dòng đang chạy tô đậm, và lời giải thích tiếng Việt cho từng bước. Thanh điều khiển cho tiến, lùi, tua, tốc độ, có phím tắt. Giao diện chỉ dùng trắng đen — trạng thái phân biệt bằng độ đậm và viền, không dựa vào màu sắc."
[CHUYỂN SANG DEMO: tiếp tục ở Player — khoanh khung mã giả, lời giải thích, thanh điều khiển, rồi bấm nút chuyển view sang "Cây trạng thái" rồi chuyển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slide: ~9s + demo ~10s (tổng ~19s).
Lời đọc: "App kiểm tra dữ liệu ngay khi nhập. Nhập sai, ví dụ số màu bằng 0, app từ chối ngay."
[CHUYỂN SANG DEMO: ở tab "Chỉnh JSON", dán JSON có colors:0 → chỉ vào thông báo lỗi xuất hiện ngay → dán lại JSON ví dụ chung để chuẩn bị cho các cảnh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slide: ~13s + demo ~16s (tổng ~29s).
Lời đọc: "Trang Testcase chạy toàn bộ dữ liệu, chia sáu nhóm, đạt hai mươi hai trên hai mươi hai ca. Kết quả xuất được ra CSV hoặc JSON để đưa vào report."
[CHUYỂN SANG DEMO: /testcases/graph-coloring → bấm chạy toàn bộ → dừng ở dòng "Đạt 22/22" → cuộn qua các nhóm → bấm xuất CSV/JSON]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slide: ~13s + demo ~16s (tổng ~29s).
Lời đọc: "Với đồ thị ba trăm đỉnh, các heuristic vẫn chạy được, DSATUR dùng ít màu nhất. Thuật toán chính xác báo rõ "không áp dụng" thay vì treo trình duyệt."
[CHUYỂN SANG DEMO: /compare/graph-coloring → trình nhập chọn "Tìm sắc số χ(G)", bộ sinh ngẫu nhiên n=300, p=0,1, seed=1 → "Chạy tất cả" (xem 3 heuristic ra kết quả); sau đó mở /play/graph-coloring/backtracking, sinh lại cùng đồ thị, bấm "Chạy" → chỉ vào thông báo "Không áp dụng: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~18s.
Lời đọc: "Mười một giai đoạn chính: phân tích đề, khảo sát sách Levitin, thiết kế kiến trúc, bản đầu cái túi, mở nền tảng dùng chung, làm song song năm nhóm, tích hợp, gắn domain riêng, và cuối cùng nâng cấp sâu bài tô màu — qua ba vòng bị yêu cầu sửa trước khi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~20s.
Lời đọc: "Toàn bộ mã nguồn được sinh bằng AI: Claude Code và Codex. Em không tự viết code và không tự review code — nguyên tắc là việc do Claude Code làm thì Codex review, và ngược lại. Việc em trực tiếp làm là đặt yêu cầu, chọn công nghệ và giao diện, chọn nơi deploy, và quyết định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~17s.
Lời đọc: "Ba prompt trích nguyên văn: yêu cầu thiết kế giao diện, giữ cả lỗi chính tả gốc; lệnh giao việc cho nhóm B5 có bài tô màu; và một lượt review chéo ghi rõ lượt trước FAIL với tám lỗi chặn. Đầy đủ các prompt khác ở report, Phụ lục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~24s.
Lời đọc: "Bốn sự cố. Checker bài tô màu từng tự tham chiếu chính thuật toán đang kiểm — sửa bằng oracle độc lập. Ở bài cái túi, nút tìm được nghiệm tốt nhất bị đánh dấu sai là bị cắt — tám test hồi quy fail trên code cũ xác nhận. Nhiều lời giải tham chiếu khác cũng tự tham chiếu. Và 136 file bị viết dồn một dòng. Cả bốn đều do reviewer hãng khác phát hiện."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~18s.
Lời đọc: "AI dựng nhanh hệ thống lớn và tự viết test, nhưng hay sai ở chỗ cần chính xác tinh vi — đều do reviewer hãng khác phát hiện. Vẫn cần người quyết định phạm vi, tính trung thực của report, và việc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~18s.
Lời đọc: "Bộ testcase xây bằng ba cách: viết tay, dựng có chủ đích từ đồ thị kinh điển đã biết χ, và sinh ngẫu nhiên theo seed. Hai mươi hai file, chia sáu nhóm, mỗi nhóm nhắm một nhánh cần phủ."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~18s.
Lời đọc: "DSATUR dùng ít màu nhất ở mọi kích thước — mười một so với mười bốn của greedy ở n=300. Nhưng greedy nhanh nhất; DSATUR tăng theo n lập phương, khớp độ phức tạp đã phân tích."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~22s.
Lời đọc: "Tính đúng: đạt 22/22 testcase, 314/314 e2e pass trên domain thật. Trực quan: mỗi bước có mã giả, giải thích, trạng thái đồ thị, lùi được bất kỳ bước. Hạn chế: thuật toán chính xác chỉ chạy đồ thị nhỏ, trên 12 đỉnh không biết χ thật, và toàn bộ code do AI sinh có thể còn lỗi chưa phát hiện."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slide: ~16s + demo ~10s (tổng ~26s).
Lời đọc: "Hướng tới: thêm nhánh cận để tìm χ(G) trên đồ thị lớn hơn, thêm biến thể như tô màu cạnh. Ngoài bài trọng tâm, nền tảng này còn dùng được cho 47 bài toán, 126 cách giải trong sách Levitin — nhưng phần nộp chấm chính vẫn là bài tô màu đồ thị."
[CHUYỂN SANG DEMO: /algorithms → Ctrl+K gõ "Dijkstra" → mở Player Dijkstra (hoặc LCS) → cho chạy 3–4 bước]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slide: ~12s + demo ~8s (tổng ~20s).
Lời đọc: "Hạn chế: thuật toán chính xác chỉ chạy đồ thị nhỏ, heuristic không bảo đảm nghiệm. Mã nguồn sinh bằng AI, kiểm chứng bằng review chéo và test độc lập — chi tiết trong report. Em cảm ơn cô đã xem video."
[CHUYỂN SANG DEMO: mở lại Player quay lui, dán JSON ví dụ chung, bấm "Chạy", tua tới bước 20, đứng yên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A0A0A"/>
          </a:solidFill>
          <a:ln/>
        </p:spPr>
      </p:sp>
      <p:sp>
        <p:nvSpPr>
          <p:cNvPr id="3" name="Text 1"/>
          <p:cNvSpPr/>
          <p:nvPr/>
        </p:nvSpPr>
        <p:spPr>
          <a:xfrm>
            <a:off x="502920" y="1371600"/>
            <a:ext cx="11185855" cy="365760"/>
          </a:xfrm>
          <a:prstGeom prst="rect">
            <a:avLst/>
          </a:prstGeom>
          <a:noFill/>
          <a:ln/>
        </p:spPr>
        <p:txBody>
          <a:bodyPr wrap="square" rtlCol="0" anchor="ctr"/>
          <a:lstStyle/>
          <a:p>
            <a:pPr indent="0" marL="0">
              <a:buNone/>
            </a:pPr>
            <a:r>
              <a:rPr lang="en-US" sz="1400" b="1" spc="100" kern="0" dirty="0">
                <a:solidFill>
                  <a:srgbClr val="71717A"/>
                </a:solidFill>
                <a:latin typeface="Noto Sans" pitchFamily="34" charset="0"/>
                <a:ea typeface="Noto Sans" pitchFamily="34" charset="-122"/>
                <a:cs typeface="Noto Sans" pitchFamily="34" charset="-120"/>
              </a:rPr>
              <a:t>CS112 — BÀI TẬP LỚN · PHÂN TÍCH VÀ THIẾT KẾ THUẬT TOÁN</a:t>
            </a:r>
            <a:endParaRPr lang="en-US" sz="1400" dirty="0"/>
          </a:p>
        </p:txBody>
      </p:sp>
      <p:sp>
        <p:nvSpPr>
          <p:cNvPr id="4" name="Text 2"/>
          <p:cNvSpPr/>
          <p:nvPr/>
        </p:nvSpPr>
        <p:spPr>
          <a:xfrm>
            <a:off x="502920" y="1828800"/>
            <a:ext cx="11185855" cy="1463040"/>
          </a:xfrm>
          <a:prstGeom prst="rect">
            <a:avLst/>
          </a:prstGeom>
          <a:noFill/>
          <a:ln/>
        </p:spPr>
        <p:txBody>
          <a:bodyPr wrap="square" rtlCol="0" anchor="t"/>
          <a:lstStyle/>
          <a:p>
            <a:pPr indent="0" marL="0">
              <a:lnSpc>
                <a:spcPts val="4400"/>
              </a:lnSpc>
              <a:buNone/>
            </a:pPr>
            <a:r>
              <a:rPr lang="en-US" sz="3800" b="1" dirty="0">
                <a:solidFill>
                  <a:srgbClr val="0A0A0A"/>
                </a:solidFill>
                <a:latin typeface="Noto Sans" pitchFamily="34" charset="0"/>
                <a:ea typeface="Noto Sans" pitchFamily="34" charset="-122"/>
                <a:cs typeface="Noto Sans" pitchFamily="34" charset="-120"/>
              </a:rPr>
              <a:t>TÔ MÀU ĐỒ THỊ (BÀI TOÁN SỞ THÚ)</a:t>
            </a:r>
            <a:endParaRPr lang="en-US" sz="3800" dirty="0"/>
          </a:p>
        </p:txBody>
      </p:sp>
      <p:sp>
        <p:nvSpPr>
          <p:cNvPr id="5" name="Text 3"/>
          <p:cNvSpPr/>
          <p:nvPr/>
        </p:nvSpPr>
        <p:spPr>
          <a:xfrm>
            <a:off x="502920" y="3246120"/>
            <a:ext cx="11185855" cy="640080"/>
          </a:xfrm>
          <a:prstGeom prst="rect">
            <a:avLst/>
          </a:prstGeom>
          <a:noFill/>
          <a:ln/>
        </p:spPr>
        <p:txBody>
          <a:bodyPr wrap="square" rtlCol="0" anchor="ctr"/>
          <a:lstStyle/>
          <a:p>
            <a:pPr indent="0" marL="0">
              <a:buNone/>
            </a:pPr>
            <a:r>
              <a:rPr lang="en-US" sz="1800" i="1" dirty="0">
                <a:solidFill>
                  <a:srgbClr val="52525B"/>
                </a:solidFill>
                <a:latin typeface="Noto Sans" pitchFamily="34" charset="0"/>
                <a:ea typeface="Noto Sans" pitchFamily="34" charset="-122"/>
                <a:cs typeface="Noto Sans" pitchFamily="34" charset="-120"/>
              </a:rPr>
              <a:t>Thiết kế, so sánh năm chiến lược giải và demo minh họa từng bước</a:t>
            </a:r>
            <a:endParaRPr lang="en-US" sz="1800" dirty="0"/>
          </a:p>
        </p:txBody>
      </p:sp>
      <p:sp>
        <p:nvSpPr>
          <p:cNvPr id="6" name="Shape 4"/>
          <p:cNvSpPr/>
          <p:nvPr/>
        </p:nvSpPr>
        <p:spPr>
          <a:xfrm>
            <a:off x="502920" y="4114800"/>
            <a:ext cx="2011680" cy="0"/>
          </a:xfrm>
          <a:prstGeom prst="line">
            <a:avLst/>
          </a:prstGeom>
          <a:noFill/>
          <a:ln w="25400">
            <a:solidFill>
              <a:srgbClr val="0A0A0A"/>
            </a:solidFill>
            <a:prstDash val="solid"/>
          </a:ln>
        </p:spPr>
      </p:sp>
      <p:sp>
        <p:nvSpPr>
          <p:cNvPr id="7" name="Text 5"/>
          <p:cNvSpPr/>
          <p:nvPr/>
        </p:nvSpPr>
        <p:spPr>
          <a:xfrm>
            <a:off x="502920" y="4343400"/>
            <a:ext cx="11185855" cy="1645920"/>
          </a:xfrm>
          <a:prstGeom prst="rect">
            <a:avLst/>
          </a:prstGeom>
          <a:noFill/>
          <a:ln/>
        </p:spPr>
        <p:txBody>
          <a:bodyPr wrap="square" rtlCol="0" anchor="t"/>
          <a:lstStyle/>
          <a:p>
            <a:pPr marL="228600" indent="-228600">
              <a:lnSpc>
                <a:spcPts val="2400"/>
              </a:lnSpc>
              <a:spcAft>
                <a:spcPts val="1000"/>
              </a:spcAft>
              <a:buSzPct val="100000"/>
              <a:buChar char="•"/>
            </a:pPr>
            <a:r>
              <a:rPr lang="en-US" sz="1500" dirty="0">
                <a:solidFill>
                  <a:srgbClr val="52525B"/>
                </a:solidFill>
                <a:latin typeface="Noto Sans" pitchFamily="34" charset="0"/>
                <a:ea typeface="Noto Sans" pitchFamily="34" charset="-122"/>
                <a:cs typeface="Noto Sans" pitchFamily="34" charset="-120"/>
              </a:rPr>
              <a:t>Môn: CS112 — Phân tích và Thiết kế Thuật toán, lớp CS112.F31</a:t>
            </a:r>
            <a:endParaRPr lang="en-US" sz="1500" dirty="0"/>
          </a:p>
          <a:p>
            <a:pPr marL="228600" indent="-228600">
              <a:lnSpc>
                <a:spcPts val="2400"/>
              </a:lnSpc>
              <a:spcAft>
                <a:spcPts val="1000"/>
              </a:spcAft>
              <a:buSzPct val="100000"/>
              <a:buChar char="•"/>
            </a:pPr>
            <a:r>
              <a:rPr lang="en-US" sz="1500" dirty="0">
                <a:solidFill>
                  <a:srgbClr val="52525B"/>
                </a:solidFill>
                <a:latin typeface="Noto Sans" pitchFamily="34" charset="0"/>
                <a:ea typeface="Noto Sans" pitchFamily="34" charset="-122"/>
                <a:cs typeface="Noto Sans" pitchFamily="34" charset="-120"/>
              </a:rPr>
              <a:t>Giảng viên: [SV XÁC NHẬN]</a:t>
            </a:r>
            <a:endParaRPr lang="en-US" sz="1500" dirty="0"/>
          </a:p>
          <a:p>
            <a:pPr marL="228600" indent="-228600">
              <a:lnSpc>
                <a:spcPts val="2400"/>
              </a:lnSpc>
              <a:spcAft>
                <a:spcPts val="1000"/>
              </a:spcAft>
              <a:buSzPct val="100000"/>
              <a:buChar char="•"/>
            </a:pPr>
            <a:r>
              <a:rPr lang="en-US" sz="1500" dirty="0">
                <a:solidFill>
                  <a:srgbClr val="52525B"/>
                </a:solidFill>
                <a:latin typeface="Noto Sans" pitchFamily="34" charset="0"/>
                <a:ea typeface="Noto Sans" pitchFamily="34" charset="-122"/>
                <a:cs typeface="Noto Sans" pitchFamily="34" charset="-120"/>
              </a:rPr>
              <a:t>Sinh viên: [SV XÁC NHẬN — Họ tên] · MSSV [SV XÁC NHẬN]</a:t>
            </a:r>
            <a:endParaRPr lang="en-US" sz="1500" dirty="0"/>
          </a:p>
          <a:p>
            <a:pPr marL="228600" indent="-228600">
              <a:lnSpc>
                <a:spcPts val="2400"/>
              </a:lnSpc>
              <a:spcAft>
                <a:spcPts val="1000"/>
              </a:spcAft>
              <a:buSzPct val="100000"/>
              <a:buChar char="•"/>
            </a:pPr>
            <a:r>
              <a:rPr lang="en-US" sz="1500" dirty="0">
                <a:solidFill>
                  <a:srgbClr val="52525B"/>
                </a:solidFill>
                <a:latin typeface="Noto Sans" pitchFamily="34" charset="0"/>
                <a:ea typeface="Noto Sans" pitchFamily="34" charset="-122"/>
                <a:cs typeface="Noto Sans" pitchFamily="34" charset="-120"/>
              </a:rPr>
              <a:t>Demo trực tuyến: algorithm-visualizer.hieutk.dev</a:t>
            </a:r>
            <a:endParaRPr lang="en-US" sz="1500" dirty="0"/>
          </a:p>
        </p:txBody>
      </p:sp>
      <p:sp>
        <p:nvSpPr>
          <p:cNvPr id="8" name="Text 6"/>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1 / 35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1 · GIỚI THIỆU BÀI TOÁN</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Lý do chọn đề tài và nguồn gốc</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2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7" name="Text 5"/>
          <p:cNvSpPr/>
          <p:nvPr/>
        </p:nvSpPr>
        <p:spPr>
          <a:xfrm>
            <a:off x="502920" y="1417320"/>
            <a:ext cx="6309360" cy="1517904"/>
          </a:xfrm>
          <a:prstGeom prst="rect">
            <a:avLst/>
          </a:prstGeom>
          <a:noFill/>
          <a:ln/>
        </p:spPr>
        <p:txBody>
          <a:bodyPr wrap="square" rtlCol="0" anchor="t"/>
          <a:lstStyle/>
          <a:p>
            <a:pPr marL="228600" indent="-228600">
              <a:lnSpc>
                <a:spcPts val="2200"/>
              </a:lnSpc>
              <a:spcAft>
                <a:spcPts val="1000"/>
              </a:spcAft>
              <a:buSzPct val="100000"/>
              <a:buChar char="•"/>
            </a:pPr>
            <a:r>
              <a:rPr lang="en-US" sz="1600" dirty="0">
                <a:solidFill>
                  <a:srgbClr val="0A0A0A"/>
                </a:solidFill>
                <a:latin typeface="Noto Sans" pitchFamily="34" charset="0"/>
                <a:ea typeface="Noto Sans" pitchFamily="34" charset="-122"/>
                <a:cs typeface="Noto Sans" pitchFamily="34" charset="-120"/>
              </a:rPr>
              <a:t>Nhận xét của cô sau bài thi: phần thiết kế thuật toán của nhiều bạn còn yếu, dù dạng bài "Sở thú là bài tô màu đồ thị" không mới.</a:t>
            </a:r>
            <a:endParaRPr lang="en-US" sz="1600" dirty="0"/>
          </a:p>
          <a:p>
            <a:pPr marL="228600" indent="-228600">
              <a:lnSpc>
                <a:spcPts val="2200"/>
              </a:lnSpc>
              <a:spcAft>
                <a:spcPts val="1000"/>
              </a:spcAft>
              <a:buSzPct val="100000"/>
              <a:buChar char="•"/>
            </a:pPr>
            <a:r>
              <a:rPr lang="en-US" sz="1600" dirty="0">
                <a:solidFill>
                  <a:srgbClr val="0A0A0A"/>
                </a:solidFill>
                <a:latin typeface="Noto Sans" pitchFamily="34" charset="0"/>
                <a:ea typeface="Noto Sans" pitchFamily="34" charset="-122"/>
                <a:cs typeface="Noto Sans" pitchFamily="34" charset="-120"/>
              </a:rPr>
              <a:t>Gợi ý từ AI: ba mô hình (Claude, Codex/GPT, Grok) cùng đề xuất chọn tô màu đồ thị, vì có nhiều cách giải để so sánh và trạng thái từng bước dễ minh họa.</a:t>
            </a:r>
            <a:endParaRPr lang="en-US" sz="1600" dirty="0"/>
          </a:p>
          <a:p>
            <a:pPr marL="228600" indent="-228600">
              <a:lnSpc>
                <a:spcPts val="2200"/>
              </a:lnSpc>
              <a:spcAft>
                <a:spcPts val="1000"/>
              </a:spcAft>
              <a:buSzPct val="100000"/>
              <a:buChar char="•"/>
            </a:pPr>
            <a:r>
              <a:rPr lang="en-US" sz="1600" dirty="0">
                <a:solidFill>
                  <a:srgbClr val="0A0A0A"/>
                </a:solidFill>
                <a:latin typeface="Noto Sans" pitchFamily="34" charset="0"/>
                <a:ea typeface="Noto Sans" pitchFamily="34" charset="-122"/>
                <a:cs typeface="Noto Sans" pitchFamily="34" charset="-120"/>
              </a:rPr>
              <a:t>[SV XÁC NHẬN] — đây phải là lý do thật của sinh viên; nội dung trên là bản nháp từ lịch sử làm việc.</a:t>
            </a:r>
            <a:endParaRPr lang="en-US" sz="1600" dirty="0"/>
          </a:p>
        </p:txBody>
      </p:sp>
      <p:sp>
        <p:nvSpPr>
          <p:cNvPr id="8" name="Text 6"/>
          <p:cNvSpPr/>
          <p:nvPr/>
        </p:nvSpPr>
        <p:spPr>
          <a:xfrm>
            <a:off x="7132320" y="1417320"/>
            <a:ext cx="4556455" cy="274320"/>
          </a:xfrm>
          <a:prstGeom prst="rect">
            <a:avLst/>
          </a:prstGeom>
          <a:noFill/>
          <a:ln/>
        </p:spPr>
        <p:txBody>
          <a:bodyPr wrap="square" rtlCol="0" anchor="ctr"/>
          <a:lstStyle/>
          <a:p>
            <a:pPr indent="0" marL="0">
              <a:buNone/>
            </a:pPr>
            <a:r>
              <a:rPr lang="en-US" sz="1200" b="1" dirty="0">
                <a:solidFill>
                  <a:srgbClr val="52525B"/>
                </a:solidFill>
                <a:latin typeface="Noto Sans" pitchFamily="34" charset="0"/>
                <a:ea typeface="Noto Sans" pitchFamily="34" charset="-122"/>
                <a:cs typeface="Noto Sans" pitchFamily="34" charset="-120"/>
              </a:rPr>
              <a:t>Nguồn gốc</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132320" y="1783080"/>
          <a:ext cx="4556455" cy="2112264"/>
        </p:xfrm>
        <a:graphic>
          <a:graphicData uri="http://schemas.openxmlformats.org/drawingml/2006/table">
            <a:tbl>
              <a:tblPr/>
              <a:tblGrid>
                <a:gridCol w="1737360"/>
                <a:gridCol w="2651760"/>
              </a:tblGrid>
              <a:tr h="352044">
                <a:tc>
                  <a:txBody>
                    <a:bodyPr/>
                    <a:lstStyle/>
                    <a:p>
                      <a:pPr algn="l" indent="0" marL="0">
                        <a:buNone/>
                      </a:pPr>
                      <a:r>
                        <a:rPr lang="en-US" sz="1200" b="1" dirty="0">
                          <a:solidFill>
                            <a:srgbClr val="FFFFFF"/>
                          </a:solidFill>
                          <a:latin typeface="Noto Sans" pitchFamily="34" charset="0"/>
                          <a:ea typeface="Noto Sans" pitchFamily="34" charset="-122"/>
                          <a:cs typeface="Noto Sans" pitchFamily="34" charset="-120"/>
                        </a:rPr>
                        <a:t>Nguồn</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200" b="1" dirty="0">
                          <a:solidFill>
                            <a:srgbClr val="FFFFFF"/>
                          </a:solidFill>
                          <a:latin typeface="Noto Sans" pitchFamily="34" charset="0"/>
                          <a:ea typeface="Noto Sans" pitchFamily="34" charset="-122"/>
                          <a:cs typeface="Noto Sans" pitchFamily="34" charset="-120"/>
                        </a:rPr>
                        <a:t>Ghi chú</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r>
              <a:tr h="352044">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Bài toán 4 màu</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Guthrie 1852, Appel–Haken chứng minh 1976</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52044">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Levitin §1.3, §12.1</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Giới thiệu &amp; quay lui m màu</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52044">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Bài Sở thú</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Đề thi, buổi ôn tập của môn</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52044">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Welsh–Powell (1967)</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Heuristic theo bậc</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52044">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DSATUR — Brélaz (1979)</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Heuristic theo độ bão hòa</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1 · GIỚI THIỆU BÀI TOÁN</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Ứng dụng thực tế</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3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85855" cy="2441448"/>
        </p:xfrm>
        <a:graphic>
          <a:graphicData uri="http://schemas.openxmlformats.org/drawingml/2006/table">
            <a:tbl>
              <a:tblPr/>
              <a:tblGrid>
                <a:gridCol w="2743200"/>
                <a:gridCol w="6217920"/>
              </a:tblGrid>
              <a:tr h="406908">
                <a:tc>
                  <a:txBody>
                    <a:bodyPr/>
                    <a:lstStyle/>
                    <a:p>
                      <a:pPr algn="l" indent="0" marL="0">
                        <a:buNone/>
                      </a:pPr>
                      <a:r>
                        <a:rPr lang="en-US" sz="1400" b="1" dirty="0">
                          <a:solidFill>
                            <a:srgbClr val="FFFFFF"/>
                          </a:solidFill>
                          <a:latin typeface="Noto Sans" pitchFamily="34" charset="0"/>
                          <a:ea typeface="Noto Sans" pitchFamily="34" charset="-122"/>
                          <a:cs typeface="Noto Sans" pitchFamily="34" charset="-120"/>
                        </a:rPr>
                        <a:t>Ứng dụng</a:t>
                      </a:r>
                      <a:endParaRPr lang="en-US" sz="14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400" b="1" dirty="0">
                          <a:solidFill>
                            <a:srgbClr val="FFFFFF"/>
                          </a:solidFill>
                          <a:latin typeface="Noto Sans" pitchFamily="34" charset="0"/>
                          <a:ea typeface="Noto Sans" pitchFamily="34" charset="-122"/>
                          <a:cs typeface="Noto Sans" pitchFamily="34" charset="-120"/>
                        </a:rPr>
                        <a:t>Ánh xạ sang tô màu đồ thị</a:t>
                      </a:r>
                      <a:endParaRPr lang="en-US" sz="14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r>
              <a:tr h="406908">
                <a:tc>
                  <a:txBody>
                    <a:bodyPr/>
                    <a:lstStyle/>
                    <a:p>
                      <a:pPr algn="l" indent="0" marL="0">
                        <a:buNone/>
                      </a:pPr>
                      <a:r>
                        <a:rPr lang="en-US" sz="1400" dirty="0">
                          <a:solidFill>
                            <a:srgbClr val="0A0A0A"/>
                          </a:solidFill>
                          <a:latin typeface="Noto Sans" pitchFamily="34" charset="0"/>
                          <a:ea typeface="Noto Sans" pitchFamily="34" charset="-122"/>
                          <a:cs typeface="Noto Sans" pitchFamily="34" charset="-120"/>
                        </a:rPr>
                        <a:t>Xếp lịch thi</a:t>
                      </a:r>
                      <a:endParaRPr lang="en-US" sz="14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400" dirty="0">
                          <a:solidFill>
                            <a:srgbClr val="0A0A0A"/>
                          </a:solidFill>
                          <a:latin typeface="Noto Sans" pitchFamily="34" charset="0"/>
                          <a:ea typeface="Noto Sans" pitchFamily="34" charset="-122"/>
                          <a:cs typeface="Noto Sans" pitchFamily="34" charset="-120"/>
                        </a:rPr>
                        <a:t>Môn = đỉnh; hai môn chung sinh viên = cạnh; ca thi = màu</a:t>
                      </a:r>
                      <a:endParaRPr lang="en-US" sz="14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406908">
                <a:tc>
                  <a:txBody>
                    <a:bodyPr/>
                    <a:lstStyle/>
                    <a:p>
                      <a:pPr algn="l" indent="0" marL="0">
                        <a:buNone/>
                      </a:pPr>
                      <a:r>
                        <a:rPr lang="en-US" sz="1400" dirty="0">
                          <a:solidFill>
                            <a:srgbClr val="0A0A0A"/>
                          </a:solidFill>
                          <a:latin typeface="Noto Sans" pitchFamily="34" charset="0"/>
                          <a:ea typeface="Noto Sans" pitchFamily="34" charset="-122"/>
                          <a:cs typeface="Noto Sans" pitchFamily="34" charset="-120"/>
                        </a:rPr>
                        <a:t>Sở thú / xếp phòng</a:t>
                      </a:r>
                      <a:endParaRPr lang="en-US" sz="14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400" dirty="0">
                          <a:solidFill>
                            <a:srgbClr val="0A0A0A"/>
                          </a:solidFill>
                          <a:latin typeface="Noto Sans" pitchFamily="34" charset="0"/>
                          <a:ea typeface="Noto Sans" pitchFamily="34" charset="-122"/>
                          <a:cs typeface="Noto Sans" pitchFamily="34" charset="-120"/>
                        </a:rPr>
                        <a:t>Loài/khách kỵ nhau không ở chung chuồng/phòng</a:t>
                      </a:r>
                      <a:endParaRPr lang="en-US" sz="14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406908">
                <a:tc>
                  <a:txBody>
                    <a:bodyPr/>
                    <a:lstStyle/>
                    <a:p>
                      <a:pPr algn="l" indent="0" marL="0">
                        <a:buNone/>
                      </a:pPr>
                      <a:r>
                        <a:rPr lang="en-US" sz="1400" dirty="0">
                          <a:solidFill>
                            <a:srgbClr val="0A0A0A"/>
                          </a:solidFill>
                          <a:latin typeface="Noto Sans" pitchFamily="34" charset="0"/>
                          <a:ea typeface="Noto Sans" pitchFamily="34" charset="-122"/>
                          <a:cs typeface="Noto Sans" pitchFamily="34" charset="-120"/>
                        </a:rPr>
                        <a:t>Cấp phát thanh ghi (compiler)</a:t>
                      </a:r>
                      <a:endParaRPr lang="en-US" sz="14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400" dirty="0">
                          <a:solidFill>
                            <a:srgbClr val="0A0A0A"/>
                          </a:solidFill>
                          <a:latin typeface="Noto Sans" pitchFamily="34" charset="0"/>
                          <a:ea typeface="Noto Sans" pitchFamily="34" charset="-122"/>
                          <a:cs typeface="Noto Sans" pitchFamily="34" charset="-120"/>
                        </a:rPr>
                        <a:t>Biến "sống" cùng lúc không dùng chung thanh ghi</a:t>
                      </a:r>
                      <a:endParaRPr lang="en-US" sz="14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406908">
                <a:tc>
                  <a:txBody>
                    <a:bodyPr/>
                    <a:lstStyle/>
                    <a:p>
                      <a:pPr algn="l" indent="0" marL="0">
                        <a:buNone/>
                      </a:pPr>
                      <a:r>
                        <a:rPr lang="en-US" sz="1400" dirty="0">
                          <a:solidFill>
                            <a:srgbClr val="0A0A0A"/>
                          </a:solidFill>
                          <a:latin typeface="Noto Sans" pitchFamily="34" charset="0"/>
                          <a:ea typeface="Noto Sans" pitchFamily="34" charset="-122"/>
                          <a:cs typeface="Noto Sans" pitchFamily="34" charset="-120"/>
                        </a:rPr>
                        <a:t>Phân tần số trạm phát sóng</a:t>
                      </a:r>
                      <a:endParaRPr lang="en-US" sz="14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400" dirty="0">
                          <a:solidFill>
                            <a:srgbClr val="0A0A0A"/>
                          </a:solidFill>
                          <a:latin typeface="Noto Sans" pitchFamily="34" charset="0"/>
                          <a:ea typeface="Noto Sans" pitchFamily="34" charset="-122"/>
                          <a:cs typeface="Noto Sans" pitchFamily="34" charset="-120"/>
                        </a:rPr>
                        <a:t>Hai trạm gần nhau phải khác tần số</a:t>
                      </a:r>
                      <a:endParaRPr lang="en-US" sz="14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406908">
                <a:tc>
                  <a:txBody>
                    <a:bodyPr/>
                    <a:lstStyle/>
                    <a:p>
                      <a:pPr algn="l" indent="0" marL="0">
                        <a:buNone/>
                      </a:pPr>
                      <a:r>
                        <a:rPr lang="en-US" sz="1400" dirty="0">
                          <a:solidFill>
                            <a:srgbClr val="0A0A0A"/>
                          </a:solidFill>
                          <a:latin typeface="Noto Sans" pitchFamily="34" charset="0"/>
                          <a:ea typeface="Noto Sans" pitchFamily="34" charset="-122"/>
                          <a:cs typeface="Noto Sans" pitchFamily="34" charset="-120"/>
                        </a:rPr>
                        <a:t>Giải Sudoku</a:t>
                      </a:r>
                      <a:endParaRPr lang="en-US" sz="14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400" dirty="0">
                          <a:solidFill>
                            <a:srgbClr val="0A0A0A"/>
                          </a:solidFill>
                          <a:latin typeface="Noto Sans" pitchFamily="34" charset="0"/>
                          <a:ea typeface="Noto Sans" pitchFamily="34" charset="-122"/>
                          <a:cs typeface="Noto Sans" pitchFamily="34" charset="-120"/>
                        </a:rPr>
                        <a:t>Bài toán tô 9 màu trên đồ thị 81 đỉnh</a:t>
                      </a:r>
                      <a:endParaRPr lang="en-US" sz="14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2 · MÔ TẢ VÀ MÔ HÌNH BÀI TOÁN</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Phát biểu bài toán (kiểu đề thi / Wecode)</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4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7" name="Text 5"/>
          <p:cNvSpPr/>
          <p:nvPr/>
        </p:nvSpPr>
        <p:spPr>
          <a:xfrm>
            <a:off x="502920" y="1417320"/>
            <a:ext cx="11185855" cy="1993392"/>
          </a:xfrm>
          <a:prstGeom prst="rect">
            <a:avLst/>
          </a:prstGeom>
          <a:noFill/>
          <a:ln/>
        </p:spPr>
        <p:txBody>
          <a:bodyPr wrap="square" rtlCol="0" anchor="t"/>
          <a:lstStyle/>
          <a:p>
            <a:pPr marL="228600" indent="-228600">
              <a:lnSpc>
                <a:spcPts val="2200"/>
              </a:lnSpc>
              <a:spcAft>
                <a:spcPts val="1000"/>
              </a:spcAft>
              <a:buSzPct val="100000"/>
              <a:buChar char="•"/>
            </a:pPr>
            <a:r>
              <a:rPr lang="en-US" sz="1600" b="1" dirty="0">
                <a:solidFill>
                  <a:srgbClr val="0A0A0A"/>
                </a:solidFill>
                <a:latin typeface="Noto Sans" pitchFamily="34" charset="0"/>
                <a:ea typeface="Noto Sans" pitchFamily="34" charset="-122"/>
                <a:cs typeface="Noto Sans" pitchFamily="34" charset="-120"/>
              </a:rPr>
              <a:t>Bài toán k-coloring (mặc định):</a:t>
            </a:r>
            <a:endParaRPr lang="en-US" sz="1600" dirty="0"/>
          </a:p>
          <a:p>
            <a:pPr marL="228600" indent="-228600">
              <a:lnSpc>
                <a:spcPts val="2200"/>
              </a:lnSpc>
              <a:spcAft>
                <a:spcPts val="1000"/>
              </a:spcAft>
              <a:buSzPct val="100000"/>
              <a:buChar char="•"/>
            </a:pPr>
            <a:r>
              <a:rPr lang="en-US" sz="1600" dirty="0">
                <a:solidFill>
                  <a:srgbClr val="0A0A0A"/>
                </a:solidFill>
                <a:latin typeface="Noto Sans" pitchFamily="34" charset="0"/>
                <a:ea typeface="Noto Sans" pitchFamily="34" charset="-122"/>
                <a:cs typeface="Noto Sans" pitchFamily="34" charset="-120"/>
              </a:rPr>
              <a:t>Sở thú cần xếp n loài thú vào các chuồng. Có danh sách các cặp loài "kỵ nhau", không được nhốt chung. Sở thú hiện có k chuồng. Có xếp được tất cả các loài vào k chuồng, sao cho không chuồng nào chứa hai loài kỵ nhau, hay không? Nếu có, hãy chỉ ra cách xếp.</a:t>
            </a:r>
            <a:endParaRPr lang="en-US" sz="1600" dirty="0"/>
          </a:p>
          <a:p>
            <a:pPr marL="228600" indent="-228600">
              <a:lnSpc>
                <a:spcPts val="2200"/>
              </a:lnSpc>
              <a:spcAft>
                <a:spcPts val="1000"/>
              </a:spcAft>
              <a:buSzPct val="100000"/>
              <a:buChar char="•"/>
            </a:pPr>
            <a:r>
              <a:rPr lang="en-US" sz="1600" b="1" dirty="0">
                <a:solidFill>
                  <a:srgbClr val="0A0A0A"/>
                </a:solidFill>
                <a:latin typeface="Noto Sans" pitchFamily="34" charset="0"/>
                <a:ea typeface="Noto Sans" pitchFamily="34" charset="-122"/>
                <a:cs typeface="Noto Sans" pitchFamily="34" charset="-120"/>
              </a:rPr>
              <a:t>Mở rộng — tìm sắc số χ(G) (chromatic):</a:t>
            </a:r>
            <a:endParaRPr lang="en-US" sz="1600" dirty="0"/>
          </a:p>
          <a:p>
            <a:pPr marL="228600" indent="-228600">
              <a:lnSpc>
                <a:spcPts val="2200"/>
              </a:lnSpc>
              <a:spcAft>
                <a:spcPts val="1000"/>
              </a:spcAft>
              <a:buSzPct val="100000"/>
              <a:buChar char="•"/>
            </a:pPr>
            <a:r>
              <a:rPr lang="en-US" sz="1600" dirty="0">
                <a:solidFill>
                  <a:srgbClr val="0A0A0A"/>
                </a:solidFill>
                <a:latin typeface="Noto Sans" pitchFamily="34" charset="0"/>
                <a:ea typeface="Noto Sans" pitchFamily="34" charset="-122"/>
                <a:cs typeface="Noto Sans" pitchFamily="34" charset="-120"/>
              </a:rPr>
              <a:t>Không cho trước k. Hỏi cần ít nhất bao nhiêu chuồng, và chỉ ra một cách xếp dùng đúng số chuồng đó.</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2 · MÔ TẢ VÀ MÔ HÌNH BÀI TOÁN</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Mô hình hóa bằng đồ thị</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5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7" name="Text 5"/>
          <p:cNvSpPr/>
          <p:nvPr/>
        </p:nvSpPr>
        <p:spPr>
          <a:xfrm>
            <a:off x="502920" y="1417320"/>
            <a:ext cx="6309360" cy="1517904"/>
          </a:xfrm>
          <a:prstGeom prst="rect">
            <a:avLst/>
          </a:prstGeom>
          <a:noFill/>
          <a:ln/>
        </p:spPr>
        <p:txBody>
          <a:bodyPr wrap="square" rtlCol="0" anchor="t"/>
          <a:lstStyle/>
          <a:p>
            <a:pPr marL="228600" indent="-228600">
              <a:lnSpc>
                <a:spcPts val="2200"/>
              </a:lnSpc>
              <a:spcAft>
                <a:spcPts val="1000"/>
              </a:spcAft>
              <a:buSzPct val="100000"/>
              <a:buChar char="•"/>
            </a:pPr>
            <a:r>
              <a:rPr lang="en-US" sz="1600" dirty="0">
                <a:solidFill>
                  <a:srgbClr val="0A0A0A"/>
                </a:solidFill>
                <a:latin typeface="Noto Sans" pitchFamily="34" charset="0"/>
                <a:ea typeface="Noto Sans" pitchFamily="34" charset="-122"/>
                <a:cs typeface="Noto Sans" pitchFamily="34" charset="-120"/>
              </a:rPr>
              <a:t>Đồ thị vô hướng G = (V, E): mỗi loài là một đỉnh; mỗi cặp kỵ nhau là một cạnh; mỗi chuồng là một màu.</a:t>
            </a:r>
            <a:endParaRPr lang="en-US" sz="1600" dirty="0"/>
          </a:p>
          <a:p>
            <a:pPr marL="228600" indent="-228600">
              <a:lnSpc>
                <a:spcPts val="2200"/>
              </a:lnSpc>
              <a:spcAft>
                <a:spcPts val="1000"/>
              </a:spcAft>
              <a:buSzPct val="100000"/>
              <a:buChar char="•"/>
            </a:pPr>
            <a:r>
              <a:rPr lang="en-US" sz="1600" dirty="0">
                <a:solidFill>
                  <a:srgbClr val="0A0A0A"/>
                </a:solidFill>
                <a:latin typeface="Noto Sans" pitchFamily="34" charset="0"/>
                <a:ea typeface="Noto Sans" pitchFamily="34" charset="-122"/>
                <a:cs typeface="Noto Sans" pitchFamily="34" charset="-120"/>
              </a:rPr>
              <a:t>Tô màu hợp lệ: hàm c: V → {0,…,k−1} sao cho (u,v) ∈ E ⇒ c(u) ≠ c(v).</a:t>
            </a:r>
            <a:endParaRPr lang="en-US" sz="1600" dirty="0"/>
          </a:p>
          <a:p>
            <a:pPr marL="228600" indent="-228600">
              <a:lnSpc>
                <a:spcPts val="2200"/>
              </a:lnSpc>
              <a:spcAft>
                <a:spcPts val="1000"/>
              </a:spcAft>
              <a:buSzPct val="100000"/>
              <a:buChar char="•"/>
            </a:pPr>
            <a:r>
              <a:rPr lang="en-US" sz="1600" dirty="0">
                <a:solidFill>
                  <a:srgbClr val="0A0A0A"/>
                </a:solidFill>
                <a:latin typeface="Noto Sans" pitchFamily="34" charset="0"/>
                <a:ea typeface="Noto Sans" pitchFamily="34" charset="-122"/>
                <a:cs typeface="Noto Sans" pitchFamily="34" charset="-120"/>
              </a:rPr>
              <a:t>k-coloring (k ≥ 3) thuộc lớp NP-đầy đủ (Karp, 1972). k = 2 giải được trong thời gian đa thức — tương đương kiểm tra đồ thị hai phía.</a:t>
            </a:r>
            <a:endParaRPr lang="en-US" sz="1600" dirty="0"/>
          </a:p>
        </p:txBody>
      </p:sp>
      <p:sp>
        <p:nvSpPr>
          <p:cNvPr id="8" name="Text 6"/>
          <p:cNvSpPr/>
          <p:nvPr/>
        </p:nvSpPr>
        <p:spPr>
          <a:xfrm>
            <a:off x="7132320" y="1417320"/>
            <a:ext cx="4556455" cy="274320"/>
          </a:xfrm>
          <a:prstGeom prst="rect">
            <a:avLst/>
          </a:prstGeom>
          <a:noFill/>
          <a:ln/>
        </p:spPr>
        <p:txBody>
          <a:bodyPr wrap="square" rtlCol="0" anchor="ctr"/>
          <a:lstStyle/>
          <a:p>
            <a:pPr indent="0" marL="0">
              <a:buNone/>
            </a:pPr>
            <a:r>
              <a:rPr lang="en-US" sz="1200" b="1" dirty="0">
                <a:solidFill>
                  <a:srgbClr val="52525B"/>
                </a:solidFill>
                <a:latin typeface="Noto Sans" pitchFamily="34" charset="0"/>
                <a:ea typeface="Noto Sans" pitchFamily="34" charset="-122"/>
                <a:cs typeface="Noto Sans" pitchFamily="34" charset="-120"/>
              </a:rPr>
              <a:t>Ba khái niệm cần phân biệt</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132320" y="1783080"/>
          <a:ext cx="4556455" cy="1453896"/>
        </p:xfrm>
        <a:graphic>
          <a:graphicData uri="http://schemas.openxmlformats.org/drawingml/2006/table">
            <a:tbl>
              <a:tblPr/>
              <a:tblGrid>
                <a:gridCol w="1828800"/>
                <a:gridCol w="2560320"/>
              </a:tblGrid>
              <a:tr h="363474">
                <a:tc>
                  <a:txBody>
                    <a:bodyPr/>
                    <a:lstStyle/>
                    <a:p>
                      <a:pPr algn="l" indent="0" marL="0">
                        <a:buNone/>
                      </a:pPr>
                      <a:r>
                        <a:rPr lang="en-US" sz="1150" b="1" dirty="0">
                          <a:solidFill>
                            <a:srgbClr val="FFFFFF"/>
                          </a:solidFill>
                          <a:latin typeface="Noto Sans" pitchFamily="34" charset="0"/>
                          <a:ea typeface="Noto Sans" pitchFamily="34" charset="-122"/>
                          <a:cs typeface="Noto Sans" pitchFamily="34" charset="-120"/>
                        </a:rPr>
                        <a:t>Khái niệm</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150" b="1" dirty="0">
                          <a:solidFill>
                            <a:srgbClr val="FFFFFF"/>
                          </a:solidFill>
                          <a:latin typeface="Noto Sans" pitchFamily="34" charset="0"/>
                          <a:ea typeface="Noto Sans" pitchFamily="34" charset="-122"/>
                          <a:cs typeface="Noto Sans" pitchFamily="34" charset="-120"/>
                        </a:rPr>
                        <a:t>Câu hỏi</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r>
              <a:tr h="363474">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Tô màu hợp lệ</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Một cách gán cho trước có đúng không? (checker)</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63474">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k-coloring</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Có tô được bằng k màu không? (mặc định)</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63474">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Sắc số χ(G)</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Số màu nhỏ nhất là bao nhiêu? (chromatic)</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2 · MÔ TẢ VÀ MÔ HÌNH BÀI TOÁN</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Input, Output và ràng buộc</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6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7" name="Text 5"/>
          <p:cNvSpPr/>
          <p:nvPr/>
        </p:nvSpPr>
        <p:spPr>
          <a:xfrm>
            <a:off x="502920" y="1417320"/>
            <a:ext cx="6309360" cy="1700784"/>
          </a:xfrm>
          <a:prstGeom prst="rect">
            <a:avLst/>
          </a:prstGeom>
          <a:noFill/>
          <a:ln/>
        </p:spPr>
        <p:txBody>
          <a:bodyPr wrap="square" rtlCol="0" anchor="t"/>
          <a:lstStyle/>
          <a:p>
            <a:pPr marL="228600" indent="-228600">
              <a:lnSpc>
                <a:spcPts val="2200"/>
              </a:lnSpc>
              <a:spcAft>
                <a:spcPts val="1000"/>
              </a:spcAft>
              <a:buSzPct val="100000"/>
              <a:buChar char="•"/>
            </a:pPr>
            <a:r>
              <a:rPr lang="en-US" sz="1500" b="1" dirty="0">
                <a:solidFill>
                  <a:srgbClr val="0A0A0A"/>
                </a:solidFill>
                <a:latin typeface="Noto Sans" pitchFamily="34" charset="0"/>
                <a:ea typeface="Noto Sans" pitchFamily="34" charset="-122"/>
                <a:cs typeface="Noto Sans" pitchFamily="34" charset="-120"/>
              </a:rPr>
              <a:t>Input (JSON, định nghĩa bằng Zod):</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 nodes, edges, colors, mode? } — nodes quyết định thứ tự duyệt của greedy/quay lui/vét cạn.</a:t>
            </a:r>
            <a:endParaRPr lang="en-US" sz="1500" dirty="0"/>
          </a:p>
          <a:p>
            <a:pPr marL="228600" indent="-228600">
              <a:lnSpc>
                <a:spcPts val="2200"/>
              </a:lnSpc>
              <a:spcAft>
                <a:spcPts val="1000"/>
              </a:spcAft>
              <a:buSzPct val="100000"/>
              <a:buChar char="•"/>
            </a:pPr>
            <a:r>
              <a:rPr lang="en-US" sz="1500" b="1" dirty="0">
                <a:solidFill>
                  <a:srgbClr val="0A0A0A"/>
                </a:solidFill>
                <a:latin typeface="Noto Sans" pitchFamily="34" charset="0"/>
                <a:ea typeface="Noto Sans" pitchFamily="34" charset="-122"/>
                <a:cs typeface="Noto Sans" pitchFamily="34" charset="-120"/>
              </a:rPr>
              <a:t>Output:</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 found, coloring, heuristic?, colorsUsed?, chromaticExact? } — heuristic báo "chưa tìm được" không khẳng định vô nghiệm.</a:t>
            </a:r>
            <a:endParaRPr lang="en-US" sz="1500" dirty="0"/>
          </a:p>
        </p:txBody>
      </p:sp>
      <p:sp>
        <p:nvSpPr>
          <p:cNvPr id="8" name="Text 6"/>
          <p:cNvSpPr/>
          <p:nvPr/>
        </p:nvSpPr>
        <p:spPr>
          <a:xfrm>
            <a:off x="7132320" y="1417320"/>
            <a:ext cx="4556455" cy="274320"/>
          </a:xfrm>
          <a:prstGeom prst="rect">
            <a:avLst/>
          </a:prstGeom>
          <a:noFill/>
          <a:ln/>
        </p:spPr>
        <p:txBody>
          <a:bodyPr wrap="square" rtlCol="0" anchor="ctr"/>
          <a:lstStyle/>
          <a:p>
            <a:pPr indent="0" marL="0">
              <a:buNone/>
            </a:pPr>
            <a:r>
              <a:rPr lang="en-US" sz="1200" b="1" dirty="0">
                <a:solidFill>
                  <a:srgbClr val="52525B"/>
                </a:solidFill>
                <a:latin typeface="Noto Sans" pitchFamily="34" charset="0"/>
                <a:ea typeface="Noto Sans" pitchFamily="34" charset="-122"/>
                <a:cs typeface="Noto Sans" pitchFamily="34" charset="-120"/>
              </a:rPr>
              <a:t>Ràng buộc chính</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132320" y="1783080"/>
          <a:ext cx="4556455" cy="2112264"/>
        </p:xfrm>
        <a:graphic>
          <a:graphicData uri="http://schemas.openxmlformats.org/drawingml/2006/table">
            <a:tbl>
              <a:tblPr/>
              <a:tblGrid>
                <a:gridCol w="1828800"/>
                <a:gridCol w="2560320"/>
              </a:tblGrid>
              <a:tr h="352044">
                <a:tc>
                  <a:txBody>
                    <a:bodyPr/>
                    <a:lstStyle/>
                    <a:p>
                      <a:pPr algn="l" indent="0" marL="0">
                        <a:buNone/>
                      </a:pPr>
                      <a:r>
                        <a:rPr lang="en-US" sz="1100" b="1" dirty="0">
                          <a:solidFill>
                            <a:srgbClr val="FFFFFF"/>
                          </a:solidFill>
                          <a:latin typeface="Noto Sans" pitchFamily="34" charset="0"/>
                          <a:ea typeface="Noto Sans" pitchFamily="34" charset="-122"/>
                          <a:cs typeface="Noto Sans" pitchFamily="34" charset="-120"/>
                        </a:rPr>
                        <a:t>Đại lượng</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100" b="1" dirty="0">
                          <a:solidFill>
                            <a:srgbClr val="FFFFFF"/>
                          </a:solidFill>
                          <a:latin typeface="Noto Sans" pitchFamily="34" charset="0"/>
                          <a:ea typeface="Noto Sans" pitchFamily="34" charset="-122"/>
                          <a:cs typeface="Noto Sans" pitchFamily="34" charset="-120"/>
                        </a:rPr>
                        <a:t>Giá trị</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r>
              <a:tr h="352044">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Số đỉnh n</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0 ≤ n ≤ 320</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52044">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Số cạnh m</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 8.000</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52044">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Số màu k</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1 ≤ k ≤ 10 (chỉ k-coloring)</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52044">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Quay lui</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n ≤ 9 (k-coloring), ≤ 10 (χ)</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52044">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Vét cạn</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kⁿ ≤ 200.000 (k-coloring); Σkⁿ ≤ 200.000 (χ, ~n ≤ 6)</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2 · MÔ TẢ VÀ MÔ HÌNH BÀI TOÁN</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Ví dụ Input / Output</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7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85855" cy="2441448"/>
        </p:xfrm>
        <a:graphic>
          <a:graphicData uri="http://schemas.openxmlformats.org/drawingml/2006/table">
            <a:tbl>
              <a:tblPr/>
              <a:tblGrid>
                <a:gridCol w="457200"/>
                <a:gridCol w="3200400"/>
                <a:gridCol w="548640"/>
                <a:gridCol w="5212080"/>
              </a:tblGrid>
              <a:tr h="406908">
                <a:tc>
                  <a:txBody>
                    <a:bodyPr/>
                    <a:lstStyle/>
                    <a:p>
                      <a:pPr algn="l" indent="0" marL="0">
                        <a:buNone/>
                      </a:pPr>
                      <a:r>
                        <a:rPr lang="en-US" sz="1300" b="1" dirty="0">
                          <a:solidFill>
                            <a:srgbClr val="FFFFFF"/>
                          </a:solidFill>
                          <a:latin typeface="Noto Sans" pitchFamily="34" charset="0"/>
                          <a:ea typeface="Noto Sans" pitchFamily="34" charset="-122"/>
                          <a:cs typeface="Noto Sans" pitchFamily="34" charset="-120"/>
                        </a:rPr>
                        <a:t>#</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300" b="1" dirty="0">
                          <a:solidFill>
                            <a:srgbClr val="FFFFFF"/>
                          </a:solidFill>
                          <a:latin typeface="Noto Sans" pitchFamily="34" charset="0"/>
                          <a:ea typeface="Noto Sans" pitchFamily="34" charset="-122"/>
                          <a:cs typeface="Noto Sans" pitchFamily="34" charset="-120"/>
                        </a:rPr>
                        <a:t>Đồ thị</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300" b="1" dirty="0">
                          <a:solidFill>
                            <a:srgbClr val="FFFFFF"/>
                          </a:solidFill>
                          <a:latin typeface="Noto Sans" pitchFamily="34" charset="0"/>
                          <a:ea typeface="Noto Sans" pitchFamily="34" charset="-122"/>
                          <a:cs typeface="Noto Sans" pitchFamily="34" charset="-120"/>
                        </a:rPr>
                        <a:t>k</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300" b="1" dirty="0">
                          <a:solidFill>
                            <a:srgbClr val="FFFFFF"/>
                          </a:solidFill>
                          <a:latin typeface="Noto Sans" pitchFamily="34" charset="0"/>
                          <a:ea typeface="Noto Sans" pitchFamily="34" charset="-122"/>
                          <a:cs typeface="Noto Sans" pitchFamily="34" charset="-120"/>
                        </a:rPr>
                        <a:t>Output đúng</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r>
              <a:tr h="406908">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1</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Tam giác A–B–C</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3</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found=true, ví dụ A=0, B=1, C=2</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406908">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2</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Tam giác A–B–C</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2</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found=false (chính xác: vô nghiệm; heuristic: chưa tìm được)</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406908">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3</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Vương miện 6 đỉnh (ví dụ chung)</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2</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found=true, coloring=[0,1,0,1,0,1] (greedy/WP báo chưa tìm được)</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406908">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4</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Đồ thị rỗng, n = 0</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1</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found=true, coloring=[]</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406908">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5</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colors = 0</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Bị từ chối vì dữ liệu không hợp lệ</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3 · THIẾT KẾ CẤU TRÚC DỮ LIỆU VÀ THUẬT TOÁN</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Cấu trúc dữ liệu</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8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7" name="Text 5"/>
          <p:cNvSpPr/>
          <p:nvPr/>
        </p:nvSpPr>
        <p:spPr>
          <a:xfrm>
            <a:off x="502920" y="1417320"/>
            <a:ext cx="11185855" cy="2505456"/>
          </a:xfrm>
          <a:prstGeom prst="rect">
            <a:avLst/>
          </a:prstGeom>
          <a:noFill/>
          <a:ln/>
        </p:spPr>
        <p:txBody>
          <a:bodyPr wrap="square" rtlCol="0" anchor="t"/>
          <a:lstStyle/>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Danh sách đỉnh có thứ tự (nodes) — quyết định thứ tự duyệt.</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Tập cạnh dạng Set&lt;string&gt; các cặp đỉnh — kiểm tra kề nhau trong O(1).</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Mảng màu color[v], với −1 là chưa tô.</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Tập màu bị cấm của đỉnh v: các màu đang có ở đỉnh kề v.</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Độ bão hòa sat(v) (chỉ DSATUR): số màu khác nhau ở các đỉnh kề v.</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Trace từng bước: lineId mã giả, trạng thái đồ thị, cây trạng thái (treeNodes), lời giải thích.</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3 · THIẾT KẾ CẤU TRÚC DỮ LIỆU VÀ THUẬT TOÁN</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Phân tích đặc trưng — ý tưởng giải</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9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7" name="Text 5"/>
          <p:cNvSpPr/>
          <p:nvPr/>
        </p:nvSpPr>
        <p:spPr>
          <a:xfrm>
            <a:off x="502920" y="1417320"/>
            <a:ext cx="6309360" cy="2103120"/>
          </a:xfrm>
          <a:prstGeom prst="rect">
            <a:avLst/>
          </a:prstGeom>
          <a:noFill/>
          <a:ln/>
        </p:spPr>
        <p:txBody>
          <a:bodyPr wrap="square" rtlCol="0" anchor="t"/>
          <a:lstStyle/>
          <a:p>
            <a:pPr marL="228600" indent="-228600">
              <a:lnSpc>
                <a:spcPts val="2200"/>
              </a:lnSpc>
              <a:spcAft>
                <a:spcPts val="1000"/>
              </a:spcAft>
              <a:buSzPct val="100000"/>
              <a:buChar char="•"/>
            </a:pPr>
            <a:r>
              <a:rPr lang="en-US" sz="1450" dirty="0">
                <a:solidFill>
                  <a:srgbClr val="0A0A0A"/>
                </a:solidFill>
                <a:latin typeface="Noto Sans" pitchFamily="34" charset="0"/>
                <a:ea typeface="Noto Sans" pitchFamily="34" charset="-122"/>
                <a:cs typeface="Noto Sans" pitchFamily="34" charset="-120"/>
              </a:rPr>
              <a:t>Chặn dưới: một clique kích thước ω cần ít nhất ω màu (tam giác cần 3 màu).</a:t>
            </a:r>
            <a:endParaRPr lang="en-US" sz="1450" dirty="0"/>
          </a:p>
          <a:p>
            <a:pPr marL="228600" indent="-228600">
              <a:lnSpc>
                <a:spcPts val="2200"/>
              </a:lnSpc>
              <a:spcAft>
                <a:spcPts val="1000"/>
              </a:spcAft>
              <a:buSzPct val="100000"/>
              <a:buChar char="•"/>
            </a:pPr>
            <a:r>
              <a:rPr lang="en-US" sz="1450" dirty="0">
                <a:solidFill>
                  <a:srgbClr val="0A0A0A"/>
                </a:solidFill>
                <a:latin typeface="Noto Sans" pitchFamily="34" charset="0"/>
                <a:ea typeface="Noto Sans" pitchFamily="34" charset="-122"/>
                <a:cs typeface="Noto Sans" pitchFamily="34" charset="-120"/>
              </a:rPr>
              <a:t>Chặn trên: mọi đồ thị tô được bằng Δ+1 màu (Δ = bậc lớn nhất).</a:t>
            </a:r>
            <a:endParaRPr lang="en-US" sz="1450" dirty="0"/>
          </a:p>
          <a:p>
            <a:pPr marL="228600" indent="-228600">
              <a:lnSpc>
                <a:spcPts val="2200"/>
              </a:lnSpc>
              <a:spcAft>
                <a:spcPts val="1000"/>
              </a:spcAft>
              <a:buSzPct val="100000"/>
              <a:buChar char="•"/>
            </a:pPr>
            <a:r>
              <a:rPr lang="en-US" sz="1450" dirty="0">
                <a:solidFill>
                  <a:srgbClr val="0A0A0A"/>
                </a:solidFill>
                <a:latin typeface="Noto Sans" pitchFamily="34" charset="0"/>
                <a:ea typeface="Noto Sans" pitchFamily="34" charset="-122"/>
                <a:cs typeface="Noto Sans" pitchFamily="34" charset="-120"/>
              </a:rPr>
              <a:t>Thứ tự duyệt quyết định chất lượng tham lam — luôn có thứ tự cho đúng χ(G), nhưng cũng có thứ tự xấu.</a:t>
            </a:r>
            <a:endParaRPr lang="en-US" sz="1450" dirty="0"/>
          </a:p>
          <a:p>
            <a:pPr marL="228600" indent="-228600">
              <a:lnSpc>
                <a:spcPts val="2200"/>
              </a:lnSpc>
              <a:spcAft>
                <a:spcPts val="1000"/>
              </a:spcAft>
              <a:buSzPct val="100000"/>
              <a:buChar char="•"/>
            </a:pPr>
            <a:r>
              <a:rPr lang="en-US" sz="1450" dirty="0">
                <a:solidFill>
                  <a:srgbClr val="0A0A0A"/>
                </a:solidFill>
                <a:latin typeface="Noto Sans" pitchFamily="34" charset="0"/>
                <a:ea typeface="Noto Sans" pitchFamily="34" charset="-122"/>
                <a:cs typeface="Noto Sans" pitchFamily="34" charset="-120"/>
              </a:rPr>
              <a:t>Ưu tiên đỉnh "khó" trước (bậc cao / bị ràng buộc nhiều) để tránh hết màu.</a:t>
            </a:r>
            <a:endParaRPr lang="en-US" sz="1450" dirty="0"/>
          </a:p>
          <a:p>
            <a:pPr marL="228600" indent="-228600">
              <a:lnSpc>
                <a:spcPts val="2200"/>
              </a:lnSpc>
              <a:spcAft>
                <a:spcPts val="1000"/>
              </a:spcAft>
              <a:buSzPct val="100000"/>
              <a:buChar char="•"/>
            </a:pPr>
            <a:r>
              <a:rPr lang="en-US" sz="1450" dirty="0">
                <a:solidFill>
                  <a:srgbClr val="0A0A0A"/>
                </a:solidFill>
                <a:latin typeface="Noto Sans" pitchFamily="34" charset="0"/>
                <a:ea typeface="Noto Sans" pitchFamily="34" charset="-122"/>
                <a:cs typeface="Noto Sans" pitchFamily="34" charset="-120"/>
              </a:rPr>
              <a:t>Không gian tìm kiếm có kⁿ cách gán; quay lui cắt nhánh sớm để duyệt ít hơn vét cạn.</a:t>
            </a:r>
            <a:endParaRPr lang="en-US" sz="1450" dirty="0"/>
          </a:p>
        </p:txBody>
      </p:sp>
      <p:sp>
        <p:nvSpPr>
          <p:cNvPr id="8" name="Text 6"/>
          <p:cNvSpPr/>
          <p:nvPr/>
        </p:nvSpPr>
        <p:spPr>
          <a:xfrm>
            <a:off x="7132320" y="1417320"/>
            <a:ext cx="4556455" cy="274320"/>
          </a:xfrm>
          <a:prstGeom prst="rect">
            <a:avLst/>
          </a:prstGeom>
          <a:noFill/>
          <a:ln/>
        </p:spPr>
        <p:txBody>
          <a:bodyPr wrap="square" rtlCol="0" anchor="ctr"/>
          <a:lstStyle/>
          <a:p>
            <a:pPr indent="0" marL="0">
              <a:buNone/>
            </a:pPr>
            <a:r>
              <a:rPr lang="en-US" sz="1200" b="1" dirty="0">
                <a:solidFill>
                  <a:srgbClr val="52525B"/>
                </a:solidFill>
                <a:latin typeface="Noto Sans" pitchFamily="34" charset="0"/>
                <a:ea typeface="Noto Sans" pitchFamily="34" charset="-122"/>
                <a:cs typeface="Noto Sans" pitchFamily="34" charset="-120"/>
              </a:rPr>
              <a:t>Thứ tự xấu cho greedy</a:t>
            </a:r>
            <a:endParaRPr lang="en-US" sz="1200" dirty="0"/>
          </a:p>
        </p:txBody>
      </p:sp>
      <p:sp>
        <p:nvSpPr>
          <p:cNvPr id="9" name="Shape 7"/>
          <p:cNvSpPr/>
          <p:nvPr/>
        </p:nvSpPr>
        <p:spPr>
          <a:xfrm>
            <a:off x="7952482" y="2276856"/>
            <a:ext cx="1458066" cy="1563624"/>
          </a:xfrm>
          <a:prstGeom prst="line">
            <a:avLst/>
          </a:prstGeom>
          <a:noFill/>
          <a:ln w="15875">
            <a:solidFill>
              <a:srgbClr val="D4D4D8"/>
            </a:solidFill>
            <a:prstDash val="solid"/>
          </a:ln>
        </p:spPr>
      </p:sp>
      <p:sp>
        <p:nvSpPr>
          <p:cNvPr id="10" name="Shape 8"/>
          <p:cNvSpPr/>
          <p:nvPr/>
        </p:nvSpPr>
        <p:spPr>
          <a:xfrm>
            <a:off x="7952482" y="2276856"/>
            <a:ext cx="2916131" cy="1563624"/>
          </a:xfrm>
          <a:prstGeom prst="line">
            <a:avLst/>
          </a:prstGeom>
          <a:noFill/>
          <a:ln w="15875">
            <a:solidFill>
              <a:srgbClr val="D4D4D8"/>
            </a:solidFill>
            <a:prstDash val="solid"/>
          </a:ln>
        </p:spPr>
      </p:sp>
      <p:sp>
        <p:nvSpPr>
          <p:cNvPr id="11" name="Shape 9"/>
          <p:cNvSpPr/>
          <p:nvPr/>
        </p:nvSpPr>
        <p:spPr>
          <a:xfrm flipH="1">
            <a:off x="7952482" y="2276856"/>
            <a:ext cx="1458066" cy="1563624"/>
          </a:xfrm>
          <a:prstGeom prst="line">
            <a:avLst/>
          </a:prstGeom>
          <a:noFill/>
          <a:ln w="15875">
            <a:solidFill>
              <a:srgbClr val="D4D4D8"/>
            </a:solidFill>
            <a:prstDash val="solid"/>
          </a:ln>
        </p:spPr>
      </p:sp>
      <p:sp>
        <p:nvSpPr>
          <p:cNvPr id="12" name="Shape 10"/>
          <p:cNvSpPr/>
          <p:nvPr/>
        </p:nvSpPr>
        <p:spPr>
          <a:xfrm>
            <a:off x="9410548" y="2276856"/>
            <a:ext cx="1458066" cy="1563624"/>
          </a:xfrm>
          <a:prstGeom prst="line">
            <a:avLst/>
          </a:prstGeom>
          <a:noFill/>
          <a:ln w="15875">
            <a:solidFill>
              <a:srgbClr val="D4D4D8"/>
            </a:solidFill>
            <a:prstDash val="solid"/>
          </a:ln>
        </p:spPr>
      </p:sp>
      <p:sp>
        <p:nvSpPr>
          <p:cNvPr id="13" name="Shape 11"/>
          <p:cNvSpPr/>
          <p:nvPr/>
        </p:nvSpPr>
        <p:spPr>
          <a:xfrm flipH="1">
            <a:off x="7952482" y="2276856"/>
            <a:ext cx="2916131" cy="1563624"/>
          </a:xfrm>
          <a:prstGeom prst="line">
            <a:avLst/>
          </a:prstGeom>
          <a:noFill/>
          <a:ln w="15875">
            <a:solidFill>
              <a:srgbClr val="D4D4D8"/>
            </a:solidFill>
            <a:prstDash val="solid"/>
          </a:ln>
        </p:spPr>
      </p:sp>
      <p:sp>
        <p:nvSpPr>
          <p:cNvPr id="14" name="Shape 12"/>
          <p:cNvSpPr/>
          <p:nvPr/>
        </p:nvSpPr>
        <p:spPr>
          <a:xfrm flipH="1">
            <a:off x="9410548" y="2276856"/>
            <a:ext cx="1458066" cy="1563624"/>
          </a:xfrm>
          <a:prstGeom prst="line">
            <a:avLst/>
          </a:prstGeom>
          <a:noFill/>
          <a:ln w="15875">
            <a:solidFill>
              <a:srgbClr val="D4D4D8"/>
            </a:solidFill>
            <a:prstDash val="solid"/>
          </a:ln>
        </p:spPr>
      </p:sp>
      <p:sp>
        <p:nvSpPr>
          <p:cNvPr id="15" name="Shape 13"/>
          <p:cNvSpPr/>
          <p:nvPr/>
        </p:nvSpPr>
        <p:spPr>
          <a:xfrm>
            <a:off x="7641586" y="1965960"/>
            <a:ext cx="621792" cy="621792"/>
          </a:xfrm>
          <a:prstGeom prst="ellipse">
            <a:avLst/>
          </a:prstGeom>
          <a:solidFill>
            <a:srgbClr val="FFFFFF"/>
          </a:solidFill>
          <a:ln w="19050">
            <a:solidFill>
              <a:srgbClr val="0A0A0A"/>
            </a:solidFill>
            <a:prstDash val="solid"/>
          </a:ln>
        </p:spPr>
      </p:sp>
      <p:sp>
        <p:nvSpPr>
          <p:cNvPr id="16" name="Text 14"/>
          <p:cNvSpPr/>
          <p:nvPr/>
        </p:nvSpPr>
        <p:spPr>
          <a:xfrm>
            <a:off x="7641586" y="1965960"/>
            <a:ext cx="621792" cy="621792"/>
          </a:xfrm>
          <a:prstGeom prst="rect">
            <a:avLst/>
          </a:prstGeom>
          <a:noFill/>
          <a:ln/>
        </p:spPr>
        <p:txBody>
          <a:bodyPr wrap="square" rtlCol="0" anchor="ctr"/>
          <a:lstStyle/>
          <a:p>
            <a:pPr algn="ctr" indent="0" marL="0">
              <a:buNone/>
            </a:pPr>
            <a:r>
              <a:rPr lang="en-US" sz="1200" b="1" dirty="0">
                <a:solidFill>
                  <a:srgbClr val="0A0A0A"/>
                </a:solidFill>
                <a:latin typeface="Noto Sans" pitchFamily="34" charset="0"/>
                <a:ea typeface="Noto Sans" pitchFamily="34" charset="-122"/>
                <a:cs typeface="Noto Sans" pitchFamily="34" charset="-120"/>
              </a:rPr>
              <a:t>A1</a:t>
            </a:r>
            <a:endParaRPr lang="en-US" sz="1200" dirty="0"/>
          </a:p>
        </p:txBody>
      </p:sp>
      <p:sp>
        <p:nvSpPr>
          <p:cNvPr id="17" name="Text 15"/>
          <p:cNvSpPr/>
          <p:nvPr/>
        </p:nvSpPr>
        <p:spPr>
          <a:xfrm>
            <a:off x="8208514" y="1764792"/>
            <a:ext cx="365760" cy="274320"/>
          </a:xfrm>
          <a:prstGeom prst="rect">
            <a:avLst/>
          </a:prstGeom>
          <a:noFill/>
          <a:ln/>
        </p:spPr>
        <p:txBody>
          <a:bodyPr wrap="square" rtlCol="0" anchor="ctr"/>
          <a:lstStyle/>
          <a:p>
            <a:pPr algn="ctr" indent="0" marL="0">
              <a:buNone/>
            </a:pPr>
            <a:r>
              <a:rPr lang="en-US" sz="1100" b="1" dirty="0">
                <a:solidFill>
                  <a:srgbClr val="52525B"/>
                </a:solidFill>
                <a:latin typeface="Noto Sans" pitchFamily="34" charset="0"/>
                <a:ea typeface="Noto Sans" pitchFamily="34" charset="-122"/>
                <a:cs typeface="Noto Sans" pitchFamily="34" charset="-120"/>
              </a:rPr>
              <a:t>1</a:t>
            </a:r>
            <a:endParaRPr lang="en-US" sz="1100" dirty="0"/>
          </a:p>
        </p:txBody>
      </p:sp>
      <p:sp>
        <p:nvSpPr>
          <p:cNvPr id="18" name="Shape 16"/>
          <p:cNvSpPr/>
          <p:nvPr/>
        </p:nvSpPr>
        <p:spPr>
          <a:xfrm>
            <a:off x="9099652" y="1965960"/>
            <a:ext cx="621792" cy="621792"/>
          </a:xfrm>
          <a:prstGeom prst="ellipse">
            <a:avLst/>
          </a:prstGeom>
          <a:solidFill>
            <a:srgbClr val="FFFFFF"/>
          </a:solidFill>
          <a:ln w="19050">
            <a:solidFill>
              <a:srgbClr val="0A0A0A"/>
            </a:solidFill>
            <a:prstDash val="solid"/>
          </a:ln>
        </p:spPr>
      </p:sp>
      <p:sp>
        <p:nvSpPr>
          <p:cNvPr id="19" name="Text 17"/>
          <p:cNvSpPr/>
          <p:nvPr/>
        </p:nvSpPr>
        <p:spPr>
          <a:xfrm>
            <a:off x="9099652" y="1965960"/>
            <a:ext cx="621792" cy="621792"/>
          </a:xfrm>
          <a:prstGeom prst="rect">
            <a:avLst/>
          </a:prstGeom>
          <a:noFill/>
          <a:ln/>
        </p:spPr>
        <p:txBody>
          <a:bodyPr wrap="square" rtlCol="0" anchor="ctr"/>
          <a:lstStyle/>
          <a:p>
            <a:pPr algn="ctr" indent="0" marL="0">
              <a:buNone/>
            </a:pPr>
            <a:r>
              <a:rPr lang="en-US" sz="1200" b="1" dirty="0">
                <a:solidFill>
                  <a:srgbClr val="0A0A0A"/>
                </a:solidFill>
                <a:latin typeface="Noto Sans" pitchFamily="34" charset="0"/>
                <a:ea typeface="Noto Sans" pitchFamily="34" charset="-122"/>
                <a:cs typeface="Noto Sans" pitchFamily="34" charset="-120"/>
              </a:rPr>
              <a:t>A2</a:t>
            </a:r>
            <a:endParaRPr lang="en-US" sz="1200" dirty="0"/>
          </a:p>
        </p:txBody>
      </p:sp>
      <p:sp>
        <p:nvSpPr>
          <p:cNvPr id="20" name="Text 18"/>
          <p:cNvSpPr/>
          <p:nvPr/>
        </p:nvSpPr>
        <p:spPr>
          <a:xfrm>
            <a:off x="9666580" y="1764792"/>
            <a:ext cx="365760" cy="274320"/>
          </a:xfrm>
          <a:prstGeom prst="rect">
            <a:avLst/>
          </a:prstGeom>
          <a:noFill/>
          <a:ln/>
        </p:spPr>
        <p:txBody>
          <a:bodyPr wrap="square" rtlCol="0" anchor="ctr"/>
          <a:lstStyle/>
          <a:p>
            <a:pPr algn="ctr" indent="0" marL="0">
              <a:buNone/>
            </a:pPr>
            <a:r>
              <a:rPr lang="en-US" sz="1100" b="1" dirty="0">
                <a:solidFill>
                  <a:srgbClr val="52525B"/>
                </a:solidFill>
                <a:latin typeface="Noto Sans" pitchFamily="34" charset="0"/>
                <a:ea typeface="Noto Sans" pitchFamily="34" charset="-122"/>
                <a:cs typeface="Noto Sans" pitchFamily="34" charset="-120"/>
              </a:rPr>
              <a:t>2</a:t>
            </a:r>
            <a:endParaRPr lang="en-US" sz="1100" dirty="0"/>
          </a:p>
        </p:txBody>
      </p:sp>
      <p:sp>
        <p:nvSpPr>
          <p:cNvPr id="21" name="Shape 19"/>
          <p:cNvSpPr/>
          <p:nvPr/>
        </p:nvSpPr>
        <p:spPr>
          <a:xfrm>
            <a:off x="10557717" y="1965960"/>
            <a:ext cx="621792" cy="621792"/>
          </a:xfrm>
          <a:prstGeom prst="ellipse">
            <a:avLst/>
          </a:prstGeom>
          <a:solidFill>
            <a:srgbClr val="FFFFFF"/>
          </a:solidFill>
          <a:ln w="19050">
            <a:solidFill>
              <a:srgbClr val="0A0A0A"/>
            </a:solidFill>
            <a:prstDash val="solid"/>
          </a:ln>
        </p:spPr>
      </p:sp>
      <p:sp>
        <p:nvSpPr>
          <p:cNvPr id="22" name="Text 20"/>
          <p:cNvSpPr/>
          <p:nvPr/>
        </p:nvSpPr>
        <p:spPr>
          <a:xfrm>
            <a:off x="10557717" y="1965960"/>
            <a:ext cx="621792" cy="621792"/>
          </a:xfrm>
          <a:prstGeom prst="rect">
            <a:avLst/>
          </a:prstGeom>
          <a:noFill/>
          <a:ln/>
        </p:spPr>
        <p:txBody>
          <a:bodyPr wrap="square" rtlCol="0" anchor="ctr"/>
          <a:lstStyle/>
          <a:p>
            <a:pPr algn="ctr" indent="0" marL="0">
              <a:buNone/>
            </a:pPr>
            <a:r>
              <a:rPr lang="en-US" sz="1200" b="1" dirty="0">
                <a:solidFill>
                  <a:srgbClr val="0A0A0A"/>
                </a:solidFill>
                <a:latin typeface="Noto Sans" pitchFamily="34" charset="0"/>
                <a:ea typeface="Noto Sans" pitchFamily="34" charset="-122"/>
                <a:cs typeface="Noto Sans" pitchFamily="34" charset="-120"/>
              </a:rPr>
              <a:t>A3</a:t>
            </a:r>
            <a:endParaRPr lang="en-US" sz="1200" dirty="0"/>
          </a:p>
        </p:txBody>
      </p:sp>
      <p:sp>
        <p:nvSpPr>
          <p:cNvPr id="23" name="Text 21"/>
          <p:cNvSpPr/>
          <p:nvPr/>
        </p:nvSpPr>
        <p:spPr>
          <a:xfrm>
            <a:off x="11124645" y="1764792"/>
            <a:ext cx="365760" cy="274320"/>
          </a:xfrm>
          <a:prstGeom prst="rect">
            <a:avLst/>
          </a:prstGeom>
          <a:noFill/>
          <a:ln/>
        </p:spPr>
        <p:txBody>
          <a:bodyPr wrap="square" rtlCol="0" anchor="ctr"/>
          <a:lstStyle/>
          <a:p>
            <a:pPr algn="ctr" indent="0" marL="0">
              <a:buNone/>
            </a:pPr>
            <a:r>
              <a:rPr lang="en-US" sz="1100" b="1" dirty="0">
                <a:solidFill>
                  <a:srgbClr val="52525B"/>
                </a:solidFill>
                <a:latin typeface="Noto Sans" pitchFamily="34" charset="0"/>
                <a:ea typeface="Noto Sans" pitchFamily="34" charset="-122"/>
                <a:cs typeface="Noto Sans" pitchFamily="34" charset="-120"/>
              </a:rPr>
              <a:t>3</a:t>
            </a:r>
            <a:endParaRPr lang="en-US" sz="1100" dirty="0"/>
          </a:p>
        </p:txBody>
      </p:sp>
      <p:sp>
        <p:nvSpPr>
          <p:cNvPr id="24" name="Shape 22"/>
          <p:cNvSpPr/>
          <p:nvPr/>
        </p:nvSpPr>
        <p:spPr>
          <a:xfrm>
            <a:off x="7641586" y="3529584"/>
            <a:ext cx="621792" cy="621792"/>
          </a:xfrm>
          <a:prstGeom prst="ellipse">
            <a:avLst/>
          </a:prstGeom>
          <a:solidFill>
            <a:srgbClr val="FFFFFF"/>
          </a:solidFill>
          <a:ln w="19050">
            <a:solidFill>
              <a:srgbClr val="0A0A0A"/>
            </a:solidFill>
            <a:prstDash val="solid"/>
          </a:ln>
        </p:spPr>
      </p:sp>
      <p:sp>
        <p:nvSpPr>
          <p:cNvPr id="25" name="Text 23"/>
          <p:cNvSpPr/>
          <p:nvPr/>
        </p:nvSpPr>
        <p:spPr>
          <a:xfrm>
            <a:off x="7641586" y="3529584"/>
            <a:ext cx="621792" cy="621792"/>
          </a:xfrm>
          <a:prstGeom prst="rect">
            <a:avLst/>
          </a:prstGeom>
          <a:noFill/>
          <a:ln/>
        </p:spPr>
        <p:txBody>
          <a:bodyPr wrap="square" rtlCol="0" anchor="ctr"/>
          <a:lstStyle/>
          <a:p>
            <a:pPr algn="ctr" indent="0" marL="0">
              <a:buNone/>
            </a:pPr>
            <a:r>
              <a:rPr lang="en-US" sz="1200" b="1" dirty="0">
                <a:solidFill>
                  <a:srgbClr val="0A0A0A"/>
                </a:solidFill>
                <a:latin typeface="Noto Sans" pitchFamily="34" charset="0"/>
                <a:ea typeface="Noto Sans" pitchFamily="34" charset="-122"/>
                <a:cs typeface="Noto Sans" pitchFamily="34" charset="-120"/>
              </a:rPr>
              <a:t>B1</a:t>
            </a:r>
            <a:endParaRPr lang="en-US" sz="1200" dirty="0"/>
          </a:p>
        </p:txBody>
      </p:sp>
      <p:sp>
        <p:nvSpPr>
          <p:cNvPr id="26" name="Text 24"/>
          <p:cNvSpPr/>
          <p:nvPr/>
        </p:nvSpPr>
        <p:spPr>
          <a:xfrm>
            <a:off x="8208514" y="3328416"/>
            <a:ext cx="365760" cy="274320"/>
          </a:xfrm>
          <a:prstGeom prst="rect">
            <a:avLst/>
          </a:prstGeom>
          <a:noFill/>
          <a:ln/>
        </p:spPr>
        <p:txBody>
          <a:bodyPr wrap="square" rtlCol="0" anchor="ctr"/>
          <a:lstStyle/>
          <a:p>
            <a:pPr algn="ctr" indent="0" marL="0">
              <a:buNone/>
            </a:pPr>
            <a:r>
              <a:rPr lang="en-US" sz="1100" b="1" dirty="0">
                <a:solidFill>
                  <a:srgbClr val="52525B"/>
                </a:solidFill>
                <a:latin typeface="Noto Sans" pitchFamily="34" charset="0"/>
                <a:ea typeface="Noto Sans" pitchFamily="34" charset="-122"/>
                <a:cs typeface="Noto Sans" pitchFamily="34" charset="-120"/>
              </a:rPr>
              <a:t>4</a:t>
            </a:r>
            <a:endParaRPr lang="en-US" sz="1100" dirty="0"/>
          </a:p>
        </p:txBody>
      </p:sp>
      <p:sp>
        <p:nvSpPr>
          <p:cNvPr id="27" name="Shape 25"/>
          <p:cNvSpPr/>
          <p:nvPr/>
        </p:nvSpPr>
        <p:spPr>
          <a:xfrm>
            <a:off x="9099652" y="3529584"/>
            <a:ext cx="621792" cy="621792"/>
          </a:xfrm>
          <a:prstGeom prst="ellipse">
            <a:avLst/>
          </a:prstGeom>
          <a:solidFill>
            <a:srgbClr val="FFFFFF"/>
          </a:solidFill>
          <a:ln w="19050">
            <a:solidFill>
              <a:srgbClr val="0A0A0A"/>
            </a:solidFill>
            <a:prstDash val="solid"/>
          </a:ln>
        </p:spPr>
      </p:sp>
      <p:sp>
        <p:nvSpPr>
          <p:cNvPr id="28" name="Text 26"/>
          <p:cNvSpPr/>
          <p:nvPr/>
        </p:nvSpPr>
        <p:spPr>
          <a:xfrm>
            <a:off x="9099652" y="3529584"/>
            <a:ext cx="621792" cy="621792"/>
          </a:xfrm>
          <a:prstGeom prst="rect">
            <a:avLst/>
          </a:prstGeom>
          <a:noFill/>
          <a:ln/>
        </p:spPr>
        <p:txBody>
          <a:bodyPr wrap="square" rtlCol="0" anchor="ctr"/>
          <a:lstStyle/>
          <a:p>
            <a:pPr algn="ctr" indent="0" marL="0">
              <a:buNone/>
            </a:pPr>
            <a:r>
              <a:rPr lang="en-US" sz="1200" b="1" dirty="0">
                <a:solidFill>
                  <a:srgbClr val="0A0A0A"/>
                </a:solidFill>
                <a:latin typeface="Noto Sans" pitchFamily="34" charset="0"/>
                <a:ea typeface="Noto Sans" pitchFamily="34" charset="-122"/>
                <a:cs typeface="Noto Sans" pitchFamily="34" charset="-120"/>
              </a:rPr>
              <a:t>B2</a:t>
            </a:r>
            <a:endParaRPr lang="en-US" sz="1200" dirty="0"/>
          </a:p>
        </p:txBody>
      </p:sp>
      <p:sp>
        <p:nvSpPr>
          <p:cNvPr id="29" name="Text 27"/>
          <p:cNvSpPr/>
          <p:nvPr/>
        </p:nvSpPr>
        <p:spPr>
          <a:xfrm>
            <a:off x="9666580" y="3328416"/>
            <a:ext cx="365760" cy="274320"/>
          </a:xfrm>
          <a:prstGeom prst="rect">
            <a:avLst/>
          </a:prstGeom>
          <a:noFill/>
          <a:ln/>
        </p:spPr>
        <p:txBody>
          <a:bodyPr wrap="square" rtlCol="0" anchor="ctr"/>
          <a:lstStyle/>
          <a:p>
            <a:pPr algn="ctr" indent="0" marL="0">
              <a:buNone/>
            </a:pPr>
            <a:r>
              <a:rPr lang="en-US" sz="1100" b="1" dirty="0">
                <a:solidFill>
                  <a:srgbClr val="52525B"/>
                </a:solidFill>
                <a:latin typeface="Noto Sans" pitchFamily="34" charset="0"/>
                <a:ea typeface="Noto Sans" pitchFamily="34" charset="-122"/>
                <a:cs typeface="Noto Sans" pitchFamily="34" charset="-120"/>
              </a:rPr>
              <a:t>5</a:t>
            </a:r>
            <a:endParaRPr lang="en-US" sz="1100" dirty="0"/>
          </a:p>
        </p:txBody>
      </p:sp>
      <p:sp>
        <p:nvSpPr>
          <p:cNvPr id="30" name="Shape 28"/>
          <p:cNvSpPr/>
          <p:nvPr/>
        </p:nvSpPr>
        <p:spPr>
          <a:xfrm>
            <a:off x="10557717" y="3529584"/>
            <a:ext cx="621792" cy="621792"/>
          </a:xfrm>
          <a:prstGeom prst="ellipse">
            <a:avLst/>
          </a:prstGeom>
          <a:solidFill>
            <a:srgbClr val="FFFFFF"/>
          </a:solidFill>
          <a:ln w="19050">
            <a:solidFill>
              <a:srgbClr val="0A0A0A"/>
            </a:solidFill>
            <a:prstDash val="solid"/>
          </a:ln>
        </p:spPr>
      </p:sp>
      <p:sp>
        <p:nvSpPr>
          <p:cNvPr id="31" name="Text 29"/>
          <p:cNvSpPr/>
          <p:nvPr/>
        </p:nvSpPr>
        <p:spPr>
          <a:xfrm>
            <a:off x="10557717" y="3529584"/>
            <a:ext cx="621792" cy="621792"/>
          </a:xfrm>
          <a:prstGeom prst="rect">
            <a:avLst/>
          </a:prstGeom>
          <a:noFill/>
          <a:ln/>
        </p:spPr>
        <p:txBody>
          <a:bodyPr wrap="square" rtlCol="0" anchor="ctr"/>
          <a:lstStyle/>
          <a:p>
            <a:pPr algn="ctr" indent="0" marL="0">
              <a:buNone/>
            </a:pPr>
            <a:r>
              <a:rPr lang="en-US" sz="1200" b="1" dirty="0">
                <a:solidFill>
                  <a:srgbClr val="0A0A0A"/>
                </a:solidFill>
                <a:latin typeface="Noto Sans" pitchFamily="34" charset="0"/>
                <a:ea typeface="Noto Sans" pitchFamily="34" charset="-122"/>
                <a:cs typeface="Noto Sans" pitchFamily="34" charset="-120"/>
              </a:rPr>
              <a:t>B3</a:t>
            </a:r>
            <a:endParaRPr lang="en-US" sz="1200" dirty="0"/>
          </a:p>
        </p:txBody>
      </p:sp>
      <p:sp>
        <p:nvSpPr>
          <p:cNvPr id="32" name="Text 30"/>
          <p:cNvSpPr/>
          <p:nvPr/>
        </p:nvSpPr>
        <p:spPr>
          <a:xfrm>
            <a:off x="11124645" y="3328416"/>
            <a:ext cx="365760" cy="274320"/>
          </a:xfrm>
          <a:prstGeom prst="rect">
            <a:avLst/>
          </a:prstGeom>
          <a:noFill/>
          <a:ln/>
        </p:spPr>
        <p:txBody>
          <a:bodyPr wrap="square" rtlCol="0" anchor="ctr"/>
          <a:lstStyle/>
          <a:p>
            <a:pPr algn="ctr" indent="0" marL="0">
              <a:buNone/>
            </a:pPr>
            <a:r>
              <a:rPr lang="en-US" sz="1100" b="1" dirty="0">
                <a:solidFill>
                  <a:srgbClr val="52525B"/>
                </a:solidFill>
                <a:latin typeface="Noto Sans" pitchFamily="34" charset="0"/>
                <a:ea typeface="Noto Sans" pitchFamily="34" charset="-122"/>
                <a:cs typeface="Noto Sans" pitchFamily="34" charset="-120"/>
              </a:rPr>
              <a:t>6</a:t>
            </a:r>
            <a:endParaRPr lang="en-US" sz="1100" dirty="0"/>
          </a:p>
        </p:txBody>
      </p:sp>
      <p:sp>
        <p:nvSpPr>
          <p:cNvPr id="33" name="Text 31"/>
          <p:cNvSpPr/>
          <p:nvPr/>
        </p:nvSpPr>
        <p:spPr>
          <a:xfrm>
            <a:off x="7132320" y="4617720"/>
            <a:ext cx="4556455" cy="1005840"/>
          </a:xfrm>
          <a:prstGeom prst="rect">
            <a:avLst/>
          </a:prstGeom>
          <a:noFill/>
          <a:ln/>
        </p:spPr>
        <p:txBody>
          <a:bodyPr wrap="square" rtlCol="0" anchor="t"/>
          <a:lstStyle/>
          <a:p>
            <a:pPr indent="0" marL="0">
              <a:lnSpc>
                <a:spcPts val="1500"/>
              </a:lnSpc>
              <a:buNone/>
            </a:pPr>
            <a:r>
              <a:rPr lang="en-US" sz="1100" i="1" dirty="0">
                <a:solidFill>
                  <a:srgbClr val="52525B"/>
                </a:solidFill>
                <a:latin typeface="Noto Sans" pitchFamily="34" charset="0"/>
                <a:ea typeface="Noto Sans" pitchFamily="34" charset="-122"/>
                <a:cs typeface="Noto Sans" pitchFamily="34" charset="-120"/>
              </a:rPr>
              <a:t>Vương miện 6 đỉnh, χ=2 — nhưng thứ tự xen kẽ A1,B1,A2,B2,A3,B3 buộc greedy dùng tới n màu.</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3 · NĂM THUẬT TOÁN</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Thuật toán 1–2: Greedy và Welsh–Powell</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10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7" name="Text 5"/>
          <p:cNvSpPr/>
          <p:nvPr/>
        </p:nvSpPr>
        <p:spPr>
          <a:xfrm>
            <a:off x="502920" y="1417320"/>
            <a:ext cx="6309360" cy="2505456"/>
          </a:xfrm>
          <a:prstGeom prst="rect">
            <a:avLst/>
          </a:prstGeom>
          <a:noFill/>
          <a:ln/>
        </p:spPr>
        <p:txBody>
          <a:bodyPr wrap="square" rtlCol="0" anchor="t"/>
          <a:lstStyle/>
          <a:p>
            <a:pPr marL="228600" indent="-228600">
              <a:lnSpc>
                <a:spcPts val="2200"/>
              </a:lnSpc>
              <a:spcAft>
                <a:spcPts val="1000"/>
              </a:spcAft>
              <a:buSzPct val="100000"/>
              <a:buChar char="•"/>
            </a:pPr>
            <a:r>
              <a:rPr lang="en-US" sz="1350" b="1" dirty="0">
                <a:solidFill>
                  <a:srgbClr val="0A0A0A"/>
                </a:solidFill>
                <a:latin typeface="Noto Sans" pitchFamily="34" charset="0"/>
                <a:ea typeface="Noto Sans" pitchFamily="34" charset="-122"/>
                <a:cs typeface="Noto Sans" pitchFamily="34" charset="-120"/>
              </a:rPr>
              <a:t>Greedy:</a:t>
            </a:r>
            <a:endParaRPr lang="en-US" sz="1350" dirty="0"/>
          </a:p>
          <a:p>
            <a:pPr marL="228600" indent="-228600">
              <a:lnSpc>
                <a:spcPts val="2200"/>
              </a:lnSpc>
              <a:spcAft>
                <a:spcPts val="1000"/>
              </a:spcAft>
              <a:buSzPct val="100000"/>
              <a:buChar char="•"/>
            </a:pPr>
            <a:r>
              <a:rPr lang="en-US" sz="1350" dirty="0">
                <a:solidFill>
                  <a:srgbClr val="0A0A0A"/>
                </a:solidFill>
                <a:latin typeface="Noto Sans" pitchFamily="34" charset="0"/>
                <a:ea typeface="Noto Sans" pitchFamily="34" charset="-122"/>
                <a:cs typeface="Noto Sans" pitchFamily="34" charset="-120"/>
              </a:rPr>
              <a:t>Xét đỉnh theo thứ tự cho sẵn; gán màu nhỏ nhất chưa có ở đỉnh kề; không có màu → "chưa tìm được".</a:t>
            </a:r>
            <a:endParaRPr lang="en-US" sz="1350" dirty="0"/>
          </a:p>
          <a:p>
            <a:pPr marL="228600" indent="-228600">
              <a:lnSpc>
                <a:spcPts val="2200"/>
              </a:lnSpc>
              <a:spcAft>
                <a:spcPts val="1000"/>
              </a:spcAft>
              <a:buSzPct val="100000"/>
              <a:buChar char="•"/>
            </a:pPr>
            <a:r>
              <a:rPr lang="en-US" sz="1350" b="1" dirty="0">
                <a:solidFill>
                  <a:srgbClr val="0A0A0A"/>
                </a:solidFill>
                <a:latin typeface="Noto Sans" pitchFamily="34" charset="0"/>
                <a:ea typeface="Noto Sans" pitchFamily="34" charset="-122"/>
                <a:cs typeface="Noto Sans" pitchFamily="34" charset="-120"/>
              </a:rPr>
              <a:t>Welsh–Powell:</a:t>
            </a:r>
            <a:endParaRPr lang="en-US" sz="1350" dirty="0"/>
          </a:p>
          <a:p>
            <a:pPr marL="228600" indent="-228600">
              <a:lnSpc>
                <a:spcPts val="2200"/>
              </a:lnSpc>
              <a:spcAft>
                <a:spcPts val="1000"/>
              </a:spcAft>
              <a:buSzPct val="100000"/>
              <a:buChar char="•"/>
            </a:pPr>
            <a:r>
              <a:rPr lang="en-US" sz="1350" dirty="0">
                <a:solidFill>
                  <a:srgbClr val="0A0A0A"/>
                </a:solidFill>
                <a:latin typeface="Noto Sans" pitchFamily="34" charset="0"/>
                <a:ea typeface="Noto Sans" pitchFamily="34" charset="-122"/>
                <a:cs typeface="Noto Sans" pitchFamily="34" charset="-120"/>
              </a:rPr>
              <a:t>order ← đỉnh sắp theo bậc giảm dần, rồi chạy Greedy(order). Trên vương miện mọi đỉnh cùng bậc 2 → thứ tự không đổi → gặp đúng khó khăn của greedy.</a:t>
            </a:r>
            <a:endParaRPr lang="en-US" sz="1350" dirty="0"/>
          </a:p>
          <a:p>
            <a:pPr marL="228600" indent="-228600">
              <a:lnSpc>
                <a:spcPts val="2200"/>
              </a:lnSpc>
              <a:spcAft>
                <a:spcPts val="1000"/>
              </a:spcAft>
              <a:buSzPct val="100000"/>
              <a:buChar char="•"/>
            </a:pPr>
            <a:r>
              <a:rPr lang="en-US" sz="1350" b="1" dirty="0">
                <a:solidFill>
                  <a:srgbClr val="0A0A0A"/>
                </a:solidFill>
                <a:latin typeface="Noto Sans" pitchFamily="34" charset="0"/>
                <a:ea typeface="Noto Sans" pitchFamily="34" charset="-122"/>
                <a:cs typeface="Noto Sans" pitchFamily="34" charset="-120"/>
              </a:rPr>
              <a:t>Độ phức tạp (lý thuyết / trong app):</a:t>
            </a:r>
            <a:endParaRPr lang="en-US" sz="1350" dirty="0"/>
          </a:p>
          <a:p>
            <a:pPr marL="228600" indent="-228600">
              <a:lnSpc>
                <a:spcPts val="2200"/>
              </a:lnSpc>
              <a:spcAft>
                <a:spcPts val="1000"/>
              </a:spcAft>
              <a:buSzPct val="100000"/>
              <a:buChar char="•"/>
            </a:pPr>
            <a:r>
              <a:rPr lang="en-US" sz="1350" dirty="0">
                <a:solidFill>
                  <a:srgbClr val="0A0A0A"/>
                </a:solidFill>
                <a:latin typeface="Noto Sans" pitchFamily="34" charset="0"/>
                <a:ea typeface="Noto Sans" pitchFamily="34" charset="-122"/>
                <a:cs typeface="Noto Sans" pitchFamily="34" charset="-120"/>
              </a:rPr>
              <a:t>Greedy: O(n·k+m) / O(n·(n+k)).  Welsh–Powell: O(n log n+n·k+m) / O(n²+n·k).</a:t>
            </a:r>
            <a:endParaRPr lang="en-US" sz="1350" dirty="0"/>
          </a:p>
        </p:txBody>
      </p:sp>
      <p:sp>
        <p:nvSpPr>
          <p:cNvPr id="8" name="Text 6"/>
          <p:cNvSpPr/>
          <p:nvPr/>
        </p:nvSpPr>
        <p:spPr>
          <a:xfrm>
            <a:off x="7132320" y="1417320"/>
            <a:ext cx="4556455" cy="274320"/>
          </a:xfrm>
          <a:prstGeom prst="rect">
            <a:avLst/>
          </a:prstGeom>
          <a:noFill/>
          <a:ln/>
        </p:spPr>
        <p:txBody>
          <a:bodyPr wrap="square" rtlCol="0" anchor="ctr"/>
          <a:lstStyle/>
          <a:p>
            <a:pPr indent="0" marL="0">
              <a:buNone/>
            </a:pPr>
            <a:r>
              <a:rPr lang="en-US" sz="1200" b="1" dirty="0">
                <a:solidFill>
                  <a:srgbClr val="52525B"/>
                </a:solidFill>
                <a:latin typeface="Noto Sans" pitchFamily="34" charset="0"/>
                <a:ea typeface="Noto Sans" pitchFamily="34" charset="-122"/>
                <a:cs typeface="Noto Sans" pitchFamily="34" charset="-120"/>
              </a:rPr>
              <a:t>Mã giả (trích mục 4.3 — mã nguyên văn Player hiển thị)</a:t>
            </a:r>
            <a:endParaRPr lang="en-US" sz="1200" dirty="0"/>
          </a:p>
        </p:txBody>
      </p:sp>
      <p:sp>
        <p:nvSpPr>
          <p:cNvPr id="9" name="Shape 7"/>
          <p:cNvSpPr/>
          <p:nvPr/>
        </p:nvSpPr>
        <p:spPr>
          <a:xfrm>
            <a:off x="7132320" y="1783080"/>
            <a:ext cx="4556455" cy="2322576"/>
          </a:xfrm>
          <a:prstGeom prst="roundRect">
            <a:avLst>
              <a:gd name="adj" fmla="val 2362"/>
            </a:avLst>
          </a:prstGeom>
          <a:solidFill>
            <a:srgbClr val="F4F4F5"/>
          </a:solidFill>
          <a:ln w="9525">
            <a:solidFill>
              <a:srgbClr val="E4E4E7"/>
            </a:solidFill>
            <a:prstDash val="solid"/>
          </a:ln>
        </p:spPr>
      </p:sp>
      <p:sp>
        <p:nvSpPr>
          <p:cNvPr id="10" name="Text 8"/>
          <p:cNvSpPr/>
          <p:nvPr/>
        </p:nvSpPr>
        <p:spPr>
          <a:xfrm>
            <a:off x="7333488" y="1911096"/>
            <a:ext cx="4154119" cy="2066544"/>
          </a:xfrm>
          <a:prstGeom prst="rect">
            <a:avLst/>
          </a:prstGeom>
          <a:noFill/>
          <a:ln/>
        </p:spPr>
        <p:txBody>
          <a:bodyPr wrap="square" rtlCol="0" anchor="t"/>
          <a:lstStyle/>
          <a:p>
            <a:pPr indent="0" marL="0">
              <a:lnSpc>
                <a:spcPts val="1750"/>
              </a:lnSpc>
              <a:buNone/>
            </a:pPr>
            <a:r>
              <a:rPr lang="en-US" sz="1150" dirty="0">
                <a:solidFill>
                  <a:srgbClr val="0A0A0A"/>
                </a:solidFill>
                <a:latin typeface="Noto Sans Mono" pitchFamily="34" charset="0"/>
                <a:ea typeface="Noto Sans Mono" pitchFamily="34" charset="-122"/>
                <a:cs typeface="Noto Sans Mono" pitchFamily="34" charset="-120"/>
              </a:rPr>
              <a:t>1. Xét các đỉnh theo thứ tự cho trước</a:t>
            </a:r>
            <a:endParaRPr lang="en-US" sz="1150" dirty="0"/>
          </a:p>
          <a:p>
            <a:pPr indent="0" marL="0">
              <a:lnSpc>
                <a:spcPts val="1750"/>
              </a:lnSpc>
              <a:buNone/>
            </a:pPr>
            <a:r>
              <a:rPr lang="en-US" sz="1150" dirty="0">
                <a:solidFill>
                  <a:srgbClr val="0A0A0A"/>
                </a:solidFill>
                <a:latin typeface="Noto Sans Mono" pitchFamily="34" charset="0"/>
                <a:ea typeface="Noto Sans Mono" pitchFamily="34" charset="-122"/>
                <a:cs typeface="Noto Sans Mono" pitchFamily="34" charset="-120"/>
              </a:rPr>
              <a:t>   (Welsh–Powell: sắp theo bậc giảm dần)</a:t>
            </a:r>
            <a:endParaRPr lang="en-US" sz="1150" dirty="0"/>
          </a:p>
          <a:p>
            <a:pPr indent="0" marL="0">
              <a:lnSpc>
                <a:spcPts val="1750"/>
              </a:lnSpc>
              <a:buNone/>
            </a:pPr>
            <a:r>
              <a:rPr lang="en-US" sz="1150" dirty="0">
                <a:solidFill>
                  <a:srgbClr val="0A0A0A"/>
                </a:solidFill>
                <a:latin typeface="Noto Sans Mono" pitchFamily="34" charset="0"/>
                <a:ea typeface="Noto Sans Mono" pitchFamily="34" charset="-122"/>
                <a:cs typeface="Noto Sans Mono" pitchFamily="34" charset="-120"/>
              </a:rPr>
              <a:t>2. Gán màu nhỏ nhất trong k màu chưa</a:t>
            </a:r>
            <a:endParaRPr lang="en-US" sz="1150" dirty="0"/>
          </a:p>
          <a:p>
            <a:pPr indent="0" marL="0">
              <a:lnSpc>
                <a:spcPts val="1750"/>
              </a:lnSpc>
              <a:buNone/>
            </a:pPr>
            <a:r>
              <a:rPr lang="en-US" sz="1150" dirty="0">
                <a:solidFill>
                  <a:srgbClr val="0A0A0A"/>
                </a:solidFill>
                <a:latin typeface="Noto Sans Mono" pitchFamily="34" charset="0"/>
                <a:ea typeface="Noto Sans Mono" pitchFamily="34" charset="-122"/>
                <a:cs typeface="Noto Sans Mono" pitchFamily="34" charset="-120"/>
              </a:rPr>
              <a:t>   dùng ở các đỉnh kề đã tô</a:t>
            </a:r>
            <a:endParaRPr lang="en-US" sz="1150" dirty="0"/>
          </a:p>
          <a:p>
            <a:pPr indent="0" marL="0">
              <a:lnSpc>
                <a:spcPts val="1750"/>
              </a:lnSpc>
              <a:buNone/>
            </a:pPr>
            <a:r>
              <a:rPr lang="en-US" sz="1150" dirty="0">
                <a:solidFill>
                  <a:srgbClr val="0A0A0A"/>
                </a:solidFill>
                <a:latin typeface="Noto Sans Mono" pitchFamily="34" charset="0"/>
                <a:ea typeface="Noto Sans Mono" pitchFamily="34" charset="-122"/>
                <a:cs typeface="Noto Sans Mono" pitchFamily="34" charset="-120"/>
              </a:rPr>
              <a:t>3. Không còn màu nào khả dụng: dừng —</a:t>
            </a:r>
            <a:endParaRPr lang="en-US" sz="1150" dirty="0"/>
          </a:p>
          <a:p>
            <a:pPr indent="0" marL="0">
              <a:lnSpc>
                <a:spcPts val="1750"/>
              </a:lnSpc>
              <a:buNone/>
            </a:pPr>
            <a:r>
              <a:rPr lang="en-US" sz="1150" dirty="0">
                <a:solidFill>
                  <a:srgbClr val="0A0A0A"/>
                </a:solidFill>
                <a:latin typeface="Noto Sans Mono" pitchFamily="34" charset="0"/>
                <a:ea typeface="Noto Sans Mono" pitchFamily="34" charset="-122"/>
                <a:cs typeface="Noto Sans Mono" pitchFamily="34" charset="-120"/>
              </a:rPr>
              <a:t>   heuristic chưa tìm được, KHÔNG</a:t>
            </a:r>
            <a:endParaRPr lang="en-US" sz="1150" dirty="0"/>
          </a:p>
          <a:p>
            <a:pPr indent="0" marL="0">
              <a:lnSpc>
                <a:spcPts val="1750"/>
              </a:lnSpc>
              <a:buNone/>
            </a:pPr>
            <a:r>
              <a:rPr lang="en-US" sz="1150" dirty="0">
                <a:solidFill>
                  <a:srgbClr val="0A0A0A"/>
                </a:solidFill>
                <a:latin typeface="Noto Sans Mono" pitchFamily="34" charset="0"/>
                <a:ea typeface="Noto Sans Mono" pitchFamily="34" charset="-122"/>
                <a:cs typeface="Noto Sans Mono" pitchFamily="34" charset="-120"/>
              </a:rPr>
              <a:t>   chứng minh vô nghiệm</a:t>
            </a:r>
            <a:endParaRPr lang="en-US" sz="1150" dirty="0"/>
          </a:p>
          <a:p>
            <a:pPr indent="0" marL="0">
              <a:lnSpc>
                <a:spcPts val="1750"/>
              </a:lnSpc>
              <a:buNone/>
            </a:pPr>
            <a:r>
              <a:rPr lang="en-US" sz="1150" dirty="0">
                <a:solidFill>
                  <a:srgbClr val="0A0A0A"/>
                </a:solidFill>
                <a:latin typeface="Noto Sans Mono" pitchFamily="34" charset="0"/>
                <a:ea typeface="Noto Sans Mono" pitchFamily="34" charset="-122"/>
                <a:cs typeface="Noto Sans Mono" pitchFamily="34" charset="-120"/>
              </a:rPr>
              <a:t>4. Trả về cách tô nếu tô được hết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3 · NĂM THUẬT TOÁN</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Thuật toán 3: DSATUR (Brélaz, 1979)</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11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7" name="Text 5"/>
          <p:cNvSpPr/>
          <p:nvPr/>
        </p:nvSpPr>
        <p:spPr>
          <a:xfrm>
            <a:off x="502920" y="1417320"/>
            <a:ext cx="6309360" cy="1298448"/>
          </a:xfrm>
          <a:prstGeom prst="rect">
            <a:avLst/>
          </a:prstGeom>
          <a:noFill/>
          <a:ln/>
        </p:spPr>
        <p:txBody>
          <a:bodyPr wrap="square" rtlCol="0" anchor="t"/>
          <a:lstStyle/>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Mở rộng ngoài sách — chọn đỉnh chưa tô có độ bão hòa sat(v) lớn nhất; hòa thì chọn bậc lớn hơn.</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Tính chất đã biết: DSATUR luôn tô đúng bằng 2 màu trên đồ thị hai phía → thành công trên ví dụ chung, trong khi greedy thất bại.</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Độ phức tạp lý thuyết O(n²+m); trong app O(n³+n·k) vì mỗi vòng tính lại độ bão hòa bằng cách quét mọi cặp đỉnh.</a:t>
            </a:r>
            <a:endParaRPr lang="en-US" sz="1500" dirty="0"/>
          </a:p>
        </p:txBody>
      </p:sp>
      <p:sp>
        <p:nvSpPr>
          <p:cNvPr id="8" name="Text 6"/>
          <p:cNvSpPr/>
          <p:nvPr/>
        </p:nvSpPr>
        <p:spPr>
          <a:xfrm>
            <a:off x="7132320" y="1417320"/>
            <a:ext cx="4556455" cy="274320"/>
          </a:xfrm>
          <a:prstGeom prst="rect">
            <a:avLst/>
          </a:prstGeom>
          <a:noFill/>
          <a:ln/>
        </p:spPr>
        <p:txBody>
          <a:bodyPr wrap="square" rtlCol="0" anchor="ctr"/>
          <a:lstStyle/>
          <a:p>
            <a:pPr indent="0" marL="0">
              <a:buNone/>
            </a:pPr>
            <a:r>
              <a:rPr lang="en-US" sz="1200" b="1" dirty="0">
                <a:solidFill>
                  <a:srgbClr val="52525B"/>
                </a:solidFill>
                <a:latin typeface="Noto Sans" pitchFamily="34" charset="0"/>
                <a:ea typeface="Noto Sans" pitchFamily="34" charset="-122"/>
                <a:cs typeface="Noto Sans" pitchFamily="34" charset="-120"/>
              </a:rPr>
              <a:t>Mã giả</a:t>
            </a:r>
            <a:endParaRPr lang="en-US" sz="1200" dirty="0"/>
          </a:p>
        </p:txBody>
      </p:sp>
      <p:sp>
        <p:nvSpPr>
          <p:cNvPr id="9" name="Shape 7"/>
          <p:cNvSpPr/>
          <p:nvPr/>
        </p:nvSpPr>
        <p:spPr>
          <a:xfrm>
            <a:off x="7132320" y="1783080"/>
            <a:ext cx="4556455" cy="2066544"/>
          </a:xfrm>
          <a:prstGeom prst="roundRect">
            <a:avLst>
              <a:gd name="adj" fmla="val 2655"/>
            </a:avLst>
          </a:prstGeom>
          <a:solidFill>
            <a:srgbClr val="F4F4F5"/>
          </a:solidFill>
          <a:ln w="9525">
            <a:solidFill>
              <a:srgbClr val="E4E4E7"/>
            </a:solidFill>
            <a:prstDash val="solid"/>
          </a:ln>
        </p:spPr>
      </p:sp>
      <p:sp>
        <p:nvSpPr>
          <p:cNvPr id="10" name="Text 8"/>
          <p:cNvSpPr/>
          <p:nvPr/>
        </p:nvSpPr>
        <p:spPr>
          <a:xfrm>
            <a:off x="7333488" y="1911096"/>
            <a:ext cx="4154119" cy="1810512"/>
          </a:xfrm>
          <a:prstGeom prst="rect">
            <a:avLst/>
          </a:prstGeom>
          <a:noFill/>
          <a:ln/>
        </p:spPr>
        <p:txBody>
          <a:bodyPr wrap="square" rtlCol="0" anchor="t"/>
          <a:lstStyle/>
          <a:p>
            <a:pPr indent="0" marL="0">
              <a:lnSpc>
                <a:spcPts val="1800"/>
              </a:lnSpc>
              <a:buNone/>
            </a:pPr>
            <a:r>
              <a:rPr lang="en-US" sz="1200" dirty="0">
                <a:solidFill>
                  <a:srgbClr val="0A0A0A"/>
                </a:solidFill>
                <a:latin typeface="Noto Sans Mono" pitchFamily="34" charset="0"/>
                <a:ea typeface="Noto Sans Mono" pitchFamily="34" charset="-122"/>
                <a:cs typeface="Noto Sans Mono" pitchFamily="34" charset="-120"/>
              </a:rPr>
              <a:t>1. sat(v) ← 0 cho mọi đỉnh</a:t>
            </a:r>
            <a:endParaRPr lang="en-US" sz="1200" dirty="0"/>
          </a:p>
          <a:p>
            <a:pPr indent="0" marL="0">
              <a:lnSpc>
                <a:spcPts val="1800"/>
              </a:lnSpc>
              <a:buNone/>
            </a:pPr>
            <a:r>
              <a:rPr lang="en-US" sz="1200" dirty="0">
                <a:solidFill>
                  <a:srgbClr val="0A0A0A"/>
                </a:solidFill>
                <a:latin typeface="Noto Sans Mono" pitchFamily="34" charset="0"/>
                <a:ea typeface="Noto Sans Mono" pitchFamily="34" charset="-122"/>
                <a:cs typeface="Noto Sans Mono" pitchFamily="34" charset="-120"/>
              </a:rPr>
              <a:t>2. Chọn đỉnh chưa tô có sat(v) lớn</a:t>
            </a:r>
            <a:endParaRPr lang="en-US" sz="1200" dirty="0"/>
          </a:p>
          <a:p>
            <a:pPr indent="0" marL="0">
              <a:lnSpc>
                <a:spcPts val="1800"/>
              </a:lnSpc>
              <a:buNone/>
            </a:pPr>
            <a:r>
              <a:rPr lang="en-US" sz="1200" dirty="0">
                <a:solidFill>
                  <a:srgbClr val="0A0A0A"/>
                </a:solidFill>
                <a:latin typeface="Noto Sans Mono" pitchFamily="34" charset="0"/>
                <a:ea typeface="Noto Sans Mono" pitchFamily="34" charset="-122"/>
                <a:cs typeface="Noto Sans Mono" pitchFamily="34" charset="-120"/>
              </a:rPr>
              <a:t>   nhất; hòa → bậc lớn hơn</a:t>
            </a:r>
            <a:endParaRPr lang="en-US" sz="1200" dirty="0"/>
          </a:p>
          <a:p>
            <a:pPr indent="0" marL="0">
              <a:lnSpc>
                <a:spcPts val="1800"/>
              </a:lnSpc>
              <a:buNone/>
            </a:pPr>
            <a:r>
              <a:rPr lang="en-US" sz="1200" dirty="0">
                <a:solidFill>
                  <a:srgbClr val="0A0A0A"/>
                </a:solidFill>
                <a:latin typeface="Noto Sans Mono" pitchFamily="34" charset="0"/>
                <a:ea typeface="Noto Sans Mono" pitchFamily="34" charset="-122"/>
                <a:cs typeface="Noto Sans Mono" pitchFamily="34" charset="-120"/>
              </a:rPr>
              <a:t>3. Gán màu nhỏ nhất chưa có ở đỉnh kề</a:t>
            </a:r>
            <a:endParaRPr lang="en-US" sz="1200" dirty="0"/>
          </a:p>
          <a:p>
            <a:pPr indent="0" marL="0">
              <a:lnSpc>
                <a:spcPts val="1800"/>
              </a:lnSpc>
              <a:buNone/>
            </a:pPr>
            <a:r>
              <a:rPr lang="en-US" sz="1200" dirty="0">
                <a:solidFill>
                  <a:srgbClr val="0A0A0A"/>
                </a:solidFill>
                <a:latin typeface="Noto Sans Mono" pitchFamily="34" charset="0"/>
                <a:ea typeface="Noto Sans Mono" pitchFamily="34" charset="-122"/>
                <a:cs typeface="Noto Sans Mono" pitchFamily="34" charset="-120"/>
              </a:rPr>
              <a:t>4. Không còn màu: dừng — chưa tìm</a:t>
            </a:r>
            <a:endParaRPr lang="en-US" sz="1200" dirty="0"/>
          </a:p>
          <a:p>
            <a:pPr indent="0" marL="0">
              <a:lnSpc>
                <a:spcPts val="1800"/>
              </a:lnSpc>
              <a:buNone/>
            </a:pPr>
            <a:r>
              <a:rPr lang="en-US" sz="1200" dirty="0">
                <a:solidFill>
                  <a:srgbClr val="0A0A0A"/>
                </a:solidFill>
                <a:latin typeface="Noto Sans Mono" pitchFamily="34" charset="0"/>
                <a:ea typeface="Noto Sans Mono" pitchFamily="34" charset="-122"/>
                <a:cs typeface="Noto Sans Mono" pitchFamily="34" charset="-120"/>
              </a:rPr>
              <a:t>   được, không chứng minh vô nghiệm</a:t>
            </a:r>
            <a:endParaRPr lang="en-US" sz="1200" dirty="0"/>
          </a:p>
          <a:p>
            <a:pPr indent="0" marL="0">
              <a:lnSpc>
                <a:spcPts val="1800"/>
              </a:lnSpc>
              <a:buNone/>
            </a:pPr>
            <a:r>
              <a:rPr lang="en-US" sz="1200" dirty="0">
                <a:solidFill>
                  <a:srgbClr val="0A0A0A"/>
                </a:solidFill>
                <a:latin typeface="Noto Sans Mono" pitchFamily="34" charset="0"/>
                <a:ea typeface="Noto Sans Mono" pitchFamily="34" charset="-122"/>
                <a:cs typeface="Noto Sans Mono" pitchFamily="34" charset="-120"/>
              </a:rPr>
              <a:t>5. Trả về cách tô nếu tô được hết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3 · NĂM THUẬT TOÁN</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Thuật toán 4: Quay lui (Backtracking, Levitin §12.1)</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12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7" name="Text 5"/>
          <p:cNvSpPr/>
          <p:nvPr/>
        </p:nvSpPr>
        <p:spPr>
          <a:xfrm>
            <a:off x="502920" y="1417320"/>
            <a:ext cx="6309360" cy="1700784"/>
          </a:xfrm>
          <a:prstGeom prst="rect">
            <a:avLst/>
          </a:prstGeom>
          <a:noFill/>
          <a:ln/>
        </p:spPr>
        <p:txBody>
          <a:bodyPr wrap="square" rtlCol="0" anchor="t"/>
          <a:lstStyle/>
          <a:p>
            <a:pPr marL="228600" indent="-228600">
              <a:lnSpc>
                <a:spcPts val="2200"/>
              </a:lnSpc>
              <a:spcAft>
                <a:spcPts val="1000"/>
              </a:spcAft>
              <a:buSzPct val="100000"/>
              <a:buChar char="•"/>
            </a:pPr>
            <a:r>
              <a:rPr lang="en-US" sz="1400" dirty="0">
                <a:solidFill>
                  <a:srgbClr val="0A0A0A"/>
                </a:solidFill>
                <a:latin typeface="Noto Sans" pitchFamily="34" charset="0"/>
                <a:ea typeface="Noto Sans" pitchFamily="34" charset="-122"/>
                <a:cs typeface="Noto Sans" pitchFamily="34" charset="-120"/>
              </a:rPr>
              <a:t>Đúng đắn: chỉ mở rộng cách tô bộ phận hợp lệ → trả về false sau khi duyệt hết nghĩa là chắc chắn vô nghiệm.</a:t>
            </a:r>
            <a:endParaRPr lang="en-US" sz="1400" dirty="0"/>
          </a:p>
          <a:p>
            <a:pPr marL="228600" indent="-228600">
              <a:lnSpc>
                <a:spcPts val="2200"/>
              </a:lnSpc>
              <a:spcAft>
                <a:spcPts val="1000"/>
              </a:spcAft>
              <a:buSzPct val="100000"/>
              <a:buChar char="•"/>
            </a:pPr>
            <a:r>
              <a:rPr lang="en-US" sz="1400" dirty="0">
                <a:solidFill>
                  <a:srgbClr val="0A0A0A"/>
                </a:solidFill>
                <a:latin typeface="Noto Sans" pitchFamily="34" charset="0"/>
                <a:ea typeface="Noto Sans" pitchFamily="34" charset="-122"/>
                <a:cs typeface="Noto Sans" pitchFamily="34" charset="-120"/>
              </a:rPr>
              <a:t>Dừng ở nghiệm đầu tiên (bài toán quyết định k màu).</a:t>
            </a:r>
            <a:endParaRPr lang="en-US" sz="1400" dirty="0"/>
          </a:p>
          <a:p>
            <a:pPr marL="228600" indent="-228600">
              <a:lnSpc>
                <a:spcPts val="2200"/>
              </a:lnSpc>
              <a:spcAft>
                <a:spcPts val="1000"/>
              </a:spcAft>
              <a:buSzPct val="100000"/>
              <a:buChar char="•"/>
            </a:pPr>
            <a:r>
              <a:rPr lang="en-US" sz="1400" dirty="0">
                <a:solidFill>
                  <a:srgbClr val="0A0A0A"/>
                </a:solidFill>
                <a:latin typeface="Noto Sans" pitchFamily="34" charset="0"/>
                <a:ea typeface="Noto Sans" pitchFamily="34" charset="-122"/>
                <a:cs typeface="Noto Sans" pitchFamily="34" charset="-120"/>
              </a:rPr>
              <a:t>Cây tìm kiếm ≤ (n+1)·kⁿ nút. Cận lý thuyết O((n+1)·kⁿ·(Δ+1)); trong app O(n²·kⁿ) vì quét mọi đỉnh mỗi nút.</a:t>
            </a:r>
            <a:endParaRPr lang="en-US" sz="1400" dirty="0"/>
          </a:p>
          <a:p>
            <a:pPr marL="228600" indent="-228600">
              <a:lnSpc>
                <a:spcPts val="2200"/>
              </a:lnSpc>
              <a:spcAft>
                <a:spcPts val="1000"/>
              </a:spcAft>
              <a:buSzPct val="100000"/>
              <a:buChar char="•"/>
            </a:pPr>
            <a:r>
              <a:rPr lang="en-US" sz="1400" dirty="0">
                <a:solidFill>
                  <a:srgbClr val="0A0A0A"/>
                </a:solidFill>
                <a:latin typeface="Noto Sans" pitchFamily="34" charset="0"/>
                <a:ea typeface="Noto Sans" pitchFamily="34" charset="-122"/>
                <a:cs typeface="Noto Sans" pitchFamily="34" charset="-120"/>
              </a:rPr>
              <a:t>Chế độ χ(G): chặn dưới = clique tham lam, chặn trên = DSATUR, tăng k dần tới nghiệm đầu tiên.</a:t>
            </a:r>
            <a:endParaRPr lang="en-US" sz="1400" dirty="0"/>
          </a:p>
        </p:txBody>
      </p:sp>
      <p:sp>
        <p:nvSpPr>
          <p:cNvPr id="8" name="Text 6"/>
          <p:cNvSpPr/>
          <p:nvPr/>
        </p:nvSpPr>
        <p:spPr>
          <a:xfrm>
            <a:off x="7132320" y="1417320"/>
            <a:ext cx="4556455" cy="274320"/>
          </a:xfrm>
          <a:prstGeom prst="rect">
            <a:avLst/>
          </a:prstGeom>
          <a:noFill/>
          <a:ln/>
        </p:spPr>
        <p:txBody>
          <a:bodyPr wrap="square" rtlCol="0" anchor="ctr"/>
          <a:lstStyle/>
          <a:p>
            <a:pPr indent="0" marL="0">
              <a:buNone/>
            </a:pPr>
            <a:r>
              <a:rPr lang="en-US" sz="1200" b="1" dirty="0">
                <a:solidFill>
                  <a:srgbClr val="52525B"/>
                </a:solidFill>
                <a:latin typeface="Noto Sans" pitchFamily="34" charset="0"/>
                <a:ea typeface="Noto Sans" pitchFamily="34" charset="-122"/>
                <a:cs typeface="Noto Sans" pitchFamily="34" charset="-120"/>
              </a:rPr>
              <a:t>Mã giả</a:t>
            </a:r>
            <a:endParaRPr lang="en-US" sz="1200" dirty="0"/>
          </a:p>
        </p:txBody>
      </p:sp>
      <p:sp>
        <p:nvSpPr>
          <p:cNvPr id="9" name="Shape 7"/>
          <p:cNvSpPr/>
          <p:nvPr/>
        </p:nvSpPr>
        <p:spPr>
          <a:xfrm>
            <a:off x="7132320" y="1783080"/>
            <a:ext cx="4556455" cy="2578608"/>
          </a:xfrm>
          <a:prstGeom prst="roundRect">
            <a:avLst>
              <a:gd name="adj" fmla="val 2128"/>
            </a:avLst>
          </a:prstGeom>
          <a:solidFill>
            <a:srgbClr val="F4F4F5"/>
          </a:solidFill>
          <a:ln w="9525">
            <a:solidFill>
              <a:srgbClr val="E4E4E7"/>
            </a:solidFill>
            <a:prstDash val="solid"/>
          </a:ln>
        </p:spPr>
      </p:sp>
      <p:sp>
        <p:nvSpPr>
          <p:cNvPr id="10" name="Text 8"/>
          <p:cNvSpPr/>
          <p:nvPr/>
        </p:nvSpPr>
        <p:spPr>
          <a:xfrm>
            <a:off x="7333488" y="1911096"/>
            <a:ext cx="4154119" cy="2322576"/>
          </a:xfrm>
          <a:prstGeom prst="rect">
            <a:avLst/>
          </a:prstGeom>
          <a:noFill/>
          <a:ln/>
        </p:spPr>
        <p:txBody>
          <a:bodyPr wrap="square" rtlCol="0" anchor="t"/>
          <a:lstStyle/>
          <a:p>
            <a:pPr indent="0" marL="0">
              <a:lnSpc>
                <a:spcPts val="1750"/>
              </a:lnSpc>
              <a:buNone/>
            </a:pPr>
            <a:r>
              <a:rPr lang="en-US" sz="1150" dirty="0">
                <a:solidFill>
                  <a:srgbClr val="0A0A0A"/>
                </a:solidFill>
                <a:latin typeface="Noto Sans Mono" pitchFamily="34" charset="0"/>
                <a:ea typeface="Noto Sans Mono" pitchFamily="34" charset="-122"/>
                <a:cs typeface="Noto Sans Mono" pitchFamily="34" charset="-120"/>
              </a:rPr>
              <a:t>Backtrack(i):</a:t>
            </a:r>
            <a:endParaRPr lang="en-US" sz="1150" dirty="0"/>
          </a:p>
          <a:p>
            <a:pPr indent="0" marL="0">
              <a:lnSpc>
                <a:spcPts val="1750"/>
              </a:lnSpc>
              <a:buNone/>
            </a:pPr>
            <a:r>
              <a:rPr lang="en-US" sz="1150" dirty="0">
                <a:solidFill>
                  <a:srgbClr val="0A0A0A"/>
                </a:solidFill>
                <a:latin typeface="Noto Sans Mono" pitchFamily="34" charset="0"/>
                <a:ea typeface="Noto Sans Mono" pitchFamily="34" charset="-122"/>
                <a:cs typeface="Noto Sans Mono" pitchFamily="34" charset="-120"/>
              </a:rPr>
              <a:t>  if i = n: return true</a:t>
            </a:r>
            <a:endParaRPr lang="en-US" sz="1150" dirty="0"/>
          </a:p>
          <a:p>
            <a:pPr indent="0" marL="0">
              <a:lnSpc>
                <a:spcPts val="1750"/>
              </a:lnSpc>
              <a:buNone/>
            </a:pPr>
            <a:r>
              <a:rPr lang="en-US" sz="1150" dirty="0">
                <a:solidFill>
                  <a:srgbClr val="0A0A0A"/>
                </a:solidFill>
                <a:latin typeface="Noto Sans Mono" pitchFamily="34" charset="0"/>
                <a:ea typeface="Noto Sans Mono" pitchFamily="34" charset="-122"/>
                <a:cs typeface="Noto Sans Mono" pitchFamily="34" charset="-120"/>
              </a:rPr>
              <a:t>  v ← order[i]</a:t>
            </a:r>
            <a:endParaRPr lang="en-US" sz="1150" dirty="0"/>
          </a:p>
          <a:p>
            <a:pPr indent="0" marL="0">
              <a:lnSpc>
                <a:spcPts val="1750"/>
              </a:lnSpc>
              <a:buNone/>
            </a:pPr>
            <a:r>
              <a:rPr lang="en-US" sz="1150" dirty="0">
                <a:solidFill>
                  <a:srgbClr val="0A0A0A"/>
                </a:solidFill>
                <a:latin typeface="Noto Sans Mono" pitchFamily="34" charset="0"/>
                <a:ea typeface="Noto Sans Mono" pitchFamily="34" charset="-122"/>
                <a:cs typeface="Noto Sans Mono" pitchFamily="34" charset="-120"/>
              </a:rPr>
              <a:t>  for c in 0..k-1:</a:t>
            </a:r>
            <a:endParaRPr lang="en-US" sz="1150" dirty="0"/>
          </a:p>
          <a:p>
            <a:pPr indent="0" marL="0">
              <a:lnSpc>
                <a:spcPts val="1750"/>
              </a:lnSpc>
              <a:buNone/>
            </a:pPr>
            <a:r>
              <a:rPr lang="en-US" sz="1150" dirty="0">
                <a:solidFill>
                  <a:srgbClr val="0A0A0A"/>
                </a:solidFill>
                <a:latin typeface="Noto Sans Mono" pitchFamily="34" charset="0"/>
                <a:ea typeface="Noto Sans Mono" pitchFamily="34" charset="-122"/>
                <a:cs typeface="Noto Sans Mono" pitchFamily="34" charset="-120"/>
              </a:rPr>
              <a:t>    if không đỉnh kề nào màu c:</a:t>
            </a:r>
            <a:endParaRPr lang="en-US" sz="1150" dirty="0"/>
          </a:p>
          <a:p>
            <a:pPr indent="0" marL="0">
              <a:lnSpc>
                <a:spcPts val="1750"/>
              </a:lnSpc>
              <a:buNone/>
            </a:pPr>
            <a:r>
              <a:rPr lang="en-US" sz="1150" dirty="0">
                <a:solidFill>
                  <a:srgbClr val="0A0A0A"/>
                </a:solidFill>
                <a:latin typeface="Noto Sans Mono" pitchFamily="34" charset="0"/>
                <a:ea typeface="Noto Sans Mono" pitchFamily="34" charset="-122"/>
                <a:cs typeface="Noto Sans Mono" pitchFamily="34" charset="-120"/>
              </a:rPr>
              <a:t>      color[v] ← c</a:t>
            </a:r>
            <a:endParaRPr lang="en-US" sz="1150" dirty="0"/>
          </a:p>
          <a:p>
            <a:pPr indent="0" marL="0">
              <a:lnSpc>
                <a:spcPts val="1750"/>
              </a:lnSpc>
              <a:buNone/>
            </a:pPr>
            <a:r>
              <a:rPr lang="en-US" sz="1150" dirty="0">
                <a:solidFill>
                  <a:srgbClr val="0A0A0A"/>
                </a:solidFill>
                <a:latin typeface="Noto Sans Mono" pitchFamily="34" charset="0"/>
                <a:ea typeface="Noto Sans Mono" pitchFamily="34" charset="-122"/>
                <a:cs typeface="Noto Sans Mono" pitchFamily="34" charset="-120"/>
              </a:rPr>
              <a:t>      if Backtrack(i+1): return true</a:t>
            </a:r>
            <a:endParaRPr lang="en-US" sz="1150" dirty="0"/>
          </a:p>
          <a:p>
            <a:pPr indent="0" marL="0">
              <a:lnSpc>
                <a:spcPts val="1750"/>
              </a:lnSpc>
              <a:buNone/>
            </a:pPr>
            <a:r>
              <a:rPr lang="en-US" sz="1150" dirty="0">
                <a:solidFill>
                  <a:srgbClr val="0A0A0A"/>
                </a:solidFill>
                <a:latin typeface="Noto Sans Mono" pitchFamily="34" charset="0"/>
                <a:ea typeface="Noto Sans Mono" pitchFamily="34" charset="-122"/>
                <a:cs typeface="Noto Sans Mono" pitchFamily="34" charset="-120"/>
              </a:rPr>
              <a:t>      color[v] ← chưa tô  // quay lui</a:t>
            </a:r>
            <a:endParaRPr lang="en-US" sz="1150" dirty="0"/>
          </a:p>
          <a:p>
            <a:pPr indent="0" marL="0">
              <a:lnSpc>
                <a:spcPts val="1750"/>
              </a:lnSpc>
              <a:buNone/>
            </a:pPr>
            <a:r>
              <a:rPr lang="en-US" sz="1150" dirty="0">
                <a:solidFill>
                  <a:srgbClr val="0A0A0A"/>
                </a:solidFill>
                <a:latin typeface="Noto Sans Mono" pitchFamily="34" charset="0"/>
                <a:ea typeface="Noto Sans Mono" pitchFamily="34" charset="-122"/>
                <a:cs typeface="Noto Sans Mono" pitchFamily="34" charset="-120"/>
              </a:rPr>
              <a:t>  return false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3 · NĂM THUẬT TOÁN</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Thuật toán 5: Vét cạn (Exhaustive search)</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13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7" name="Text 5"/>
          <p:cNvSpPr/>
          <p:nvPr/>
        </p:nvSpPr>
        <p:spPr>
          <a:xfrm>
            <a:off x="502920" y="1417320"/>
            <a:ext cx="6309360" cy="1700784"/>
          </a:xfrm>
          <a:prstGeom prst="rect">
            <a:avLst/>
          </a:prstGeom>
          <a:noFill/>
          <a:ln/>
        </p:spPr>
        <p:txBody>
          <a:bodyPr wrap="square" rtlCol="0" anchor="t"/>
          <a:lstStyle/>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Sinh mọi kⁿ phép gán theo thứ tự từ điển; dừng ở nghiệm đầu tiên hợp lệ.</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Cận lý thuyết O(kⁿ·(n+m)); trong app O(kⁿ·n²) vì kiểm tra bằng quét mọi cặp đỉnh.</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Giới hạn an toàn trong app: kⁿ ≤ 200.000 (k-coloring) hoặc Σkⁿ ≤ 200.000, k=1..n (χ, tức n ≤ 6).</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Mốc để so sánh "chi phí cắt nhánh" của quay lui (20 bước so với 69 bước trên ví dụ chung).</a:t>
            </a:r>
            <a:endParaRPr lang="en-US" sz="1500" dirty="0"/>
          </a:p>
        </p:txBody>
      </p:sp>
      <p:sp>
        <p:nvSpPr>
          <p:cNvPr id="8" name="Text 6"/>
          <p:cNvSpPr/>
          <p:nvPr/>
        </p:nvSpPr>
        <p:spPr>
          <a:xfrm>
            <a:off x="7132320" y="1417320"/>
            <a:ext cx="4556455" cy="274320"/>
          </a:xfrm>
          <a:prstGeom prst="rect">
            <a:avLst/>
          </a:prstGeom>
          <a:noFill/>
          <a:ln/>
        </p:spPr>
        <p:txBody>
          <a:bodyPr wrap="square" rtlCol="0" anchor="ctr"/>
          <a:lstStyle/>
          <a:p>
            <a:pPr indent="0" marL="0">
              <a:buNone/>
            </a:pPr>
            <a:r>
              <a:rPr lang="en-US" sz="1200" b="1" dirty="0">
                <a:solidFill>
                  <a:srgbClr val="52525B"/>
                </a:solidFill>
                <a:latin typeface="Noto Sans" pitchFamily="34" charset="0"/>
                <a:ea typeface="Noto Sans" pitchFamily="34" charset="-122"/>
                <a:cs typeface="Noto Sans" pitchFamily="34" charset="-120"/>
              </a:rPr>
              <a:t>Mã giả</a:t>
            </a:r>
            <a:endParaRPr lang="en-US" sz="1200" dirty="0"/>
          </a:p>
        </p:txBody>
      </p:sp>
      <p:sp>
        <p:nvSpPr>
          <p:cNvPr id="9" name="Shape 7"/>
          <p:cNvSpPr/>
          <p:nvPr/>
        </p:nvSpPr>
        <p:spPr>
          <a:xfrm>
            <a:off x="7132320" y="1783080"/>
            <a:ext cx="4556455" cy="1554480"/>
          </a:xfrm>
          <a:prstGeom prst="roundRect">
            <a:avLst>
              <a:gd name="adj" fmla="val 3529"/>
            </a:avLst>
          </a:prstGeom>
          <a:solidFill>
            <a:srgbClr val="F4F4F5"/>
          </a:solidFill>
          <a:ln w="9525">
            <a:solidFill>
              <a:srgbClr val="E4E4E7"/>
            </a:solidFill>
            <a:prstDash val="solid"/>
          </a:ln>
        </p:spPr>
      </p:sp>
      <p:sp>
        <p:nvSpPr>
          <p:cNvPr id="10" name="Text 8"/>
          <p:cNvSpPr/>
          <p:nvPr/>
        </p:nvSpPr>
        <p:spPr>
          <a:xfrm>
            <a:off x="7333488" y="1911096"/>
            <a:ext cx="4154119" cy="1298448"/>
          </a:xfrm>
          <a:prstGeom prst="rect">
            <a:avLst/>
          </a:prstGeom>
          <a:noFill/>
          <a:ln/>
        </p:spPr>
        <p:txBody>
          <a:bodyPr wrap="square" rtlCol="0" anchor="t"/>
          <a:lstStyle/>
          <a:p>
            <a:pPr indent="0" marL="0">
              <a:lnSpc>
                <a:spcPts val="1900"/>
              </a:lnSpc>
              <a:buNone/>
            </a:pPr>
            <a:r>
              <a:rPr lang="en-US" sz="1300" dirty="0">
                <a:solidFill>
                  <a:srgbClr val="0A0A0A"/>
                </a:solidFill>
                <a:latin typeface="Noto Sans Mono" pitchFamily="34" charset="0"/>
                <a:ea typeface="Noto Sans Mono" pitchFamily="34" charset="-122"/>
                <a:cs typeface="Noto Sans Mono" pitchFamily="34" charset="-120"/>
              </a:rPr>
              <a:t>Exhaustive(G, k):</a:t>
            </a:r>
            <a:endParaRPr lang="en-US" sz="1300" dirty="0"/>
          </a:p>
          <a:p>
            <a:pPr indent="0" marL="0">
              <a:lnSpc>
                <a:spcPts val="1900"/>
              </a:lnSpc>
              <a:buNone/>
            </a:pPr>
            <a:r>
              <a:rPr lang="en-US" sz="1300" dirty="0">
                <a:solidFill>
                  <a:srgbClr val="0A0A0A"/>
                </a:solidFill>
                <a:latin typeface="Noto Sans Mono" pitchFamily="34" charset="0"/>
                <a:ea typeface="Noto Sans Mono" pitchFamily="34" charset="-122"/>
                <a:cs typeface="Noto Sans Mono" pitchFamily="34" charset="-120"/>
              </a:rPr>
              <a:t>  for mỗi c in {0..k-1}^n</a:t>
            </a:r>
            <a:endParaRPr lang="en-US" sz="1300" dirty="0"/>
          </a:p>
          <a:p>
            <a:pPr indent="0" marL="0">
              <a:lnSpc>
                <a:spcPts val="1900"/>
              </a:lnSpc>
              <a:buNone/>
            </a:pPr>
            <a:r>
              <a:rPr lang="en-US" sz="1300" dirty="0">
                <a:solidFill>
                  <a:srgbClr val="0A0A0A"/>
                </a:solidFill>
                <a:latin typeface="Noto Sans Mono" pitchFamily="34" charset="0"/>
                <a:ea typeface="Noto Sans Mono" pitchFamily="34" charset="-122"/>
                <a:cs typeface="Noto Sans Mono" pitchFamily="34" charset="-120"/>
              </a:rPr>
              <a:t>      (thứ tự từ điển):</a:t>
            </a:r>
            <a:endParaRPr lang="en-US" sz="1300" dirty="0"/>
          </a:p>
          <a:p>
            <a:pPr indent="0" marL="0">
              <a:lnSpc>
                <a:spcPts val="1900"/>
              </a:lnSpc>
              <a:buNone/>
            </a:pPr>
            <a:r>
              <a:rPr lang="en-US" sz="1300" dirty="0">
                <a:solidFill>
                  <a:srgbClr val="0A0A0A"/>
                </a:solidFill>
                <a:latin typeface="Noto Sans Mono" pitchFamily="34" charset="0"/>
                <a:ea typeface="Noto Sans Mono" pitchFamily="34" charset="-122"/>
                <a:cs typeface="Noto Sans Mono" pitchFamily="34" charset="-120"/>
              </a:rPr>
              <a:t>    if c hợp lệ: return c</a:t>
            </a:r>
            <a:endParaRPr lang="en-US" sz="1300" dirty="0"/>
          </a:p>
          <a:p>
            <a:pPr indent="0" marL="0">
              <a:lnSpc>
                <a:spcPts val="1900"/>
              </a:lnSpc>
              <a:buNone/>
            </a:pPr>
            <a:r>
              <a:rPr lang="en-US" sz="1300" dirty="0">
                <a:solidFill>
                  <a:srgbClr val="0A0A0A"/>
                </a:solidFill>
                <a:latin typeface="Noto Sans Mono" pitchFamily="34" charset="0"/>
                <a:ea typeface="Noto Sans Mono" pitchFamily="34" charset="-122"/>
                <a:cs typeface="Noto Sans Mono" pitchFamily="34" charset="-120"/>
              </a:rPr>
              <a:t>  return "vô nghiệm"</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3 · NĂM THUẬT TOÁN</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Bảng tổng hợp 5 thuật toán</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14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85855" cy="2112264"/>
        </p:xfrm>
        <a:graphic>
          <a:graphicData uri="http://schemas.openxmlformats.org/drawingml/2006/table">
            <a:tbl>
              <a:tblPr/>
              <a:tblGrid>
                <a:gridCol w="1737360"/>
                <a:gridCol w="1554480"/>
                <a:gridCol w="3749040"/>
                <a:gridCol w="1737360"/>
              </a:tblGrid>
              <a:tr h="352044">
                <a:tc>
                  <a:txBody>
                    <a:bodyPr/>
                    <a:lstStyle/>
                    <a:p>
                      <a:pPr algn="l" indent="0" marL="0">
                        <a:buNone/>
                      </a:pPr>
                      <a:r>
                        <a:rPr lang="en-US" sz="1150" b="1" dirty="0">
                          <a:solidFill>
                            <a:srgbClr val="FFFFFF"/>
                          </a:solidFill>
                          <a:latin typeface="Noto Sans" pitchFamily="34" charset="0"/>
                          <a:ea typeface="Noto Sans" pitchFamily="34" charset="-122"/>
                          <a:cs typeface="Noto Sans" pitchFamily="34" charset="-120"/>
                        </a:rPr>
                        <a:t>Thuật toán</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150" b="1" dirty="0">
                          <a:solidFill>
                            <a:srgbClr val="FFFFFF"/>
                          </a:solidFill>
                          <a:latin typeface="Noto Sans" pitchFamily="34" charset="0"/>
                          <a:ea typeface="Noto Sans" pitchFamily="34" charset="-122"/>
                          <a:cs typeface="Noto Sans" pitchFamily="34" charset="-120"/>
                        </a:rPr>
                        <a:t>Kết luận chắc chắn?</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150" b="1" dirty="0">
                          <a:solidFill>
                            <a:srgbClr val="FFFFFF"/>
                          </a:solidFill>
                          <a:latin typeface="Noto Sans" pitchFamily="34" charset="0"/>
                          <a:ea typeface="Noto Sans" pitchFamily="34" charset="-122"/>
                          <a:cs typeface="Noto Sans" pitchFamily="34" charset="-120"/>
                        </a:rPr>
                        <a:t>Độ phức tạp (lý thuyết / trong app)</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150" b="1" dirty="0">
                          <a:solidFill>
                            <a:srgbClr val="FFFFFF"/>
                          </a:solidFill>
                          <a:latin typeface="Noto Sans" pitchFamily="34" charset="0"/>
                          <a:ea typeface="Noto Sans" pitchFamily="34" charset="-122"/>
                          <a:cs typeface="Noto Sans" pitchFamily="34" charset="-120"/>
                        </a:rPr>
                        <a:t>Giới hạn n</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r>
              <a:tr h="352044">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Greedy</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Không</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O(n·k+m) / O(n·(n+k))</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320</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52044">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Welsh–Powell</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Không</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O(n log n+n·k+m) / O(n²+n·k)</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320</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52044">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DSATUR</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Không (đúng trên đồ thị 2 phía)</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O(n²+m) / O(n³+n·k)</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320</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52044">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Quay lui</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Có</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O((n+1)·kⁿ·(Δ+1)) / O(n²·kⁿ)</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9 (k màu) / 10 (χ)</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52044">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Vét cạn</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Có</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O(kⁿ·(n+m)) / O(kⁿ·n²)</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kⁿ ≤ 200.000 (~6, χ)</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3 · NĂM THUẬT TOÁN</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Vì sao heuristic có thể thất bại</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15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7" name="Text 5"/>
          <p:cNvSpPr/>
          <p:nvPr/>
        </p:nvSpPr>
        <p:spPr>
          <a:xfrm>
            <a:off x="502920" y="1417320"/>
            <a:ext cx="6309360" cy="1700784"/>
          </a:xfrm>
          <a:prstGeom prst="rect">
            <a:avLst/>
          </a:prstGeom>
          <a:noFill/>
          <a:ln/>
        </p:spPr>
        <p:txBody>
          <a:bodyPr wrap="square" rtlCol="0" anchor="t"/>
          <a:lstStyle/>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Đồ thị vương miện 6 đỉnh: nhóm A = {A1,A2,A3}, nhóm B = {B1,B2,B3}; Ai kỵ mọi Bj trừ Bi → hai phía, χ = 2.</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Thứ tự nhập cố ý xen kẽ A1,B1,A2,B2,A3,B3 — đây là thứ tự "xấu" cho greedy/Welsh–Powell.</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DSATUR tránh được vì luôn ưu tiên đỉnh bị ràng buộc nhiều nhất, không phụ thuộc thứ tự nhập.</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Đây là ví dụ chung dùng xuyên suốt report, demo và video — số bước phải khớp nhau ở mọi nơi.</a:t>
            </a:r>
            <a:endParaRPr lang="en-US" sz="1500" dirty="0"/>
          </a:p>
        </p:txBody>
      </p:sp>
      <p:sp>
        <p:nvSpPr>
          <p:cNvPr id="8" name="Text 6"/>
          <p:cNvSpPr/>
          <p:nvPr/>
        </p:nvSpPr>
        <p:spPr>
          <a:xfrm>
            <a:off x="7132320" y="1417320"/>
            <a:ext cx="4556455" cy="274320"/>
          </a:xfrm>
          <a:prstGeom prst="rect">
            <a:avLst/>
          </a:prstGeom>
          <a:noFill/>
          <a:ln/>
        </p:spPr>
        <p:txBody>
          <a:bodyPr wrap="square" rtlCol="0" anchor="ctr"/>
          <a:lstStyle/>
          <a:p>
            <a:pPr indent="0" marL="0">
              <a:buNone/>
            </a:pPr>
            <a:r>
              <a:rPr lang="en-US" sz="1200" b="1" dirty="0">
                <a:solidFill>
                  <a:srgbClr val="52525B"/>
                </a:solidFill>
                <a:latin typeface="Noto Sans" pitchFamily="34" charset="0"/>
                <a:ea typeface="Noto Sans" pitchFamily="34" charset="-122"/>
                <a:cs typeface="Noto Sans" pitchFamily="34" charset="-120"/>
              </a:rPr>
              <a:t>Đồ thị vương miện 6 đỉnh (χ=2)</a:t>
            </a:r>
            <a:endParaRPr lang="en-US" sz="1200" dirty="0"/>
          </a:p>
        </p:txBody>
      </p:sp>
      <p:sp>
        <p:nvSpPr>
          <p:cNvPr id="9" name="Shape 7"/>
          <p:cNvSpPr/>
          <p:nvPr/>
        </p:nvSpPr>
        <p:spPr>
          <a:xfrm>
            <a:off x="7952482" y="2276856"/>
            <a:ext cx="1458066" cy="1563624"/>
          </a:xfrm>
          <a:prstGeom prst="line">
            <a:avLst/>
          </a:prstGeom>
          <a:noFill/>
          <a:ln w="15875">
            <a:solidFill>
              <a:srgbClr val="D4D4D8"/>
            </a:solidFill>
            <a:prstDash val="solid"/>
          </a:ln>
        </p:spPr>
      </p:sp>
      <p:sp>
        <p:nvSpPr>
          <p:cNvPr id="10" name="Shape 8"/>
          <p:cNvSpPr/>
          <p:nvPr/>
        </p:nvSpPr>
        <p:spPr>
          <a:xfrm>
            <a:off x="7952482" y="2276856"/>
            <a:ext cx="2916131" cy="1563624"/>
          </a:xfrm>
          <a:prstGeom prst="line">
            <a:avLst/>
          </a:prstGeom>
          <a:noFill/>
          <a:ln w="15875">
            <a:solidFill>
              <a:srgbClr val="D4D4D8"/>
            </a:solidFill>
            <a:prstDash val="solid"/>
          </a:ln>
        </p:spPr>
      </p:sp>
      <p:sp>
        <p:nvSpPr>
          <p:cNvPr id="11" name="Shape 9"/>
          <p:cNvSpPr/>
          <p:nvPr/>
        </p:nvSpPr>
        <p:spPr>
          <a:xfrm flipH="1">
            <a:off x="7952482" y="2276856"/>
            <a:ext cx="1458066" cy="1563624"/>
          </a:xfrm>
          <a:prstGeom prst="line">
            <a:avLst/>
          </a:prstGeom>
          <a:noFill/>
          <a:ln w="15875">
            <a:solidFill>
              <a:srgbClr val="D4D4D8"/>
            </a:solidFill>
            <a:prstDash val="solid"/>
          </a:ln>
        </p:spPr>
      </p:sp>
      <p:sp>
        <p:nvSpPr>
          <p:cNvPr id="12" name="Shape 10"/>
          <p:cNvSpPr/>
          <p:nvPr/>
        </p:nvSpPr>
        <p:spPr>
          <a:xfrm>
            <a:off x="9410548" y="2276856"/>
            <a:ext cx="1458066" cy="1563624"/>
          </a:xfrm>
          <a:prstGeom prst="line">
            <a:avLst/>
          </a:prstGeom>
          <a:noFill/>
          <a:ln w="15875">
            <a:solidFill>
              <a:srgbClr val="D4D4D8"/>
            </a:solidFill>
            <a:prstDash val="solid"/>
          </a:ln>
        </p:spPr>
      </p:sp>
      <p:sp>
        <p:nvSpPr>
          <p:cNvPr id="13" name="Shape 11"/>
          <p:cNvSpPr/>
          <p:nvPr/>
        </p:nvSpPr>
        <p:spPr>
          <a:xfrm flipH="1">
            <a:off x="7952482" y="2276856"/>
            <a:ext cx="2916131" cy="1563624"/>
          </a:xfrm>
          <a:prstGeom prst="line">
            <a:avLst/>
          </a:prstGeom>
          <a:noFill/>
          <a:ln w="15875">
            <a:solidFill>
              <a:srgbClr val="D4D4D8"/>
            </a:solidFill>
            <a:prstDash val="solid"/>
          </a:ln>
        </p:spPr>
      </p:sp>
      <p:sp>
        <p:nvSpPr>
          <p:cNvPr id="14" name="Shape 12"/>
          <p:cNvSpPr/>
          <p:nvPr/>
        </p:nvSpPr>
        <p:spPr>
          <a:xfrm flipH="1">
            <a:off x="9410548" y="2276856"/>
            <a:ext cx="1458066" cy="1563624"/>
          </a:xfrm>
          <a:prstGeom prst="line">
            <a:avLst/>
          </a:prstGeom>
          <a:noFill/>
          <a:ln w="15875">
            <a:solidFill>
              <a:srgbClr val="D4D4D8"/>
            </a:solidFill>
            <a:prstDash val="solid"/>
          </a:ln>
        </p:spPr>
      </p:sp>
      <p:sp>
        <p:nvSpPr>
          <p:cNvPr id="15" name="Shape 13"/>
          <p:cNvSpPr/>
          <p:nvPr/>
        </p:nvSpPr>
        <p:spPr>
          <a:xfrm>
            <a:off x="7641586" y="1965960"/>
            <a:ext cx="621792" cy="621792"/>
          </a:xfrm>
          <a:prstGeom prst="ellipse">
            <a:avLst/>
          </a:prstGeom>
          <a:solidFill>
            <a:srgbClr val="FFFFFF"/>
          </a:solidFill>
          <a:ln w="19050">
            <a:solidFill>
              <a:srgbClr val="0A0A0A"/>
            </a:solidFill>
            <a:prstDash val="solid"/>
          </a:ln>
        </p:spPr>
      </p:sp>
      <p:sp>
        <p:nvSpPr>
          <p:cNvPr id="16" name="Text 14"/>
          <p:cNvSpPr/>
          <p:nvPr/>
        </p:nvSpPr>
        <p:spPr>
          <a:xfrm>
            <a:off x="7641586" y="1965960"/>
            <a:ext cx="621792" cy="621792"/>
          </a:xfrm>
          <a:prstGeom prst="rect">
            <a:avLst/>
          </a:prstGeom>
          <a:noFill/>
          <a:ln/>
        </p:spPr>
        <p:txBody>
          <a:bodyPr wrap="square" rtlCol="0" anchor="ctr"/>
          <a:lstStyle/>
          <a:p>
            <a:pPr algn="ctr" indent="0" marL="0">
              <a:buNone/>
            </a:pPr>
            <a:r>
              <a:rPr lang="en-US" sz="1200" b="1" dirty="0">
                <a:solidFill>
                  <a:srgbClr val="0A0A0A"/>
                </a:solidFill>
                <a:latin typeface="Noto Sans" pitchFamily="34" charset="0"/>
                <a:ea typeface="Noto Sans" pitchFamily="34" charset="-122"/>
                <a:cs typeface="Noto Sans" pitchFamily="34" charset="-120"/>
              </a:rPr>
              <a:t>A1</a:t>
            </a:r>
            <a:endParaRPr lang="en-US" sz="1200" dirty="0"/>
          </a:p>
        </p:txBody>
      </p:sp>
      <p:sp>
        <p:nvSpPr>
          <p:cNvPr id="17" name="Text 15"/>
          <p:cNvSpPr/>
          <p:nvPr/>
        </p:nvSpPr>
        <p:spPr>
          <a:xfrm>
            <a:off x="8208514" y="1764792"/>
            <a:ext cx="365760" cy="274320"/>
          </a:xfrm>
          <a:prstGeom prst="rect">
            <a:avLst/>
          </a:prstGeom>
          <a:noFill/>
          <a:ln/>
        </p:spPr>
        <p:txBody>
          <a:bodyPr wrap="square" rtlCol="0" anchor="ctr"/>
          <a:lstStyle/>
          <a:p>
            <a:pPr algn="ctr" indent="0" marL="0">
              <a:buNone/>
            </a:pPr>
            <a:r>
              <a:rPr lang="en-US" sz="1100" b="1" dirty="0">
                <a:solidFill>
                  <a:srgbClr val="52525B"/>
                </a:solidFill>
                <a:latin typeface="Noto Sans" pitchFamily="34" charset="0"/>
                <a:ea typeface="Noto Sans" pitchFamily="34" charset="-122"/>
                <a:cs typeface="Noto Sans" pitchFamily="34" charset="-120"/>
              </a:rPr>
              <a:t>1</a:t>
            </a:r>
            <a:endParaRPr lang="en-US" sz="1100" dirty="0"/>
          </a:p>
        </p:txBody>
      </p:sp>
      <p:sp>
        <p:nvSpPr>
          <p:cNvPr id="18" name="Shape 16"/>
          <p:cNvSpPr/>
          <p:nvPr/>
        </p:nvSpPr>
        <p:spPr>
          <a:xfrm>
            <a:off x="9099652" y="1965960"/>
            <a:ext cx="621792" cy="621792"/>
          </a:xfrm>
          <a:prstGeom prst="ellipse">
            <a:avLst/>
          </a:prstGeom>
          <a:solidFill>
            <a:srgbClr val="FFFFFF"/>
          </a:solidFill>
          <a:ln w="19050">
            <a:solidFill>
              <a:srgbClr val="0A0A0A"/>
            </a:solidFill>
            <a:prstDash val="solid"/>
          </a:ln>
        </p:spPr>
      </p:sp>
      <p:sp>
        <p:nvSpPr>
          <p:cNvPr id="19" name="Text 17"/>
          <p:cNvSpPr/>
          <p:nvPr/>
        </p:nvSpPr>
        <p:spPr>
          <a:xfrm>
            <a:off x="9099652" y="1965960"/>
            <a:ext cx="621792" cy="621792"/>
          </a:xfrm>
          <a:prstGeom prst="rect">
            <a:avLst/>
          </a:prstGeom>
          <a:noFill/>
          <a:ln/>
        </p:spPr>
        <p:txBody>
          <a:bodyPr wrap="square" rtlCol="0" anchor="ctr"/>
          <a:lstStyle/>
          <a:p>
            <a:pPr algn="ctr" indent="0" marL="0">
              <a:buNone/>
            </a:pPr>
            <a:r>
              <a:rPr lang="en-US" sz="1200" b="1" dirty="0">
                <a:solidFill>
                  <a:srgbClr val="0A0A0A"/>
                </a:solidFill>
                <a:latin typeface="Noto Sans" pitchFamily="34" charset="0"/>
                <a:ea typeface="Noto Sans" pitchFamily="34" charset="-122"/>
                <a:cs typeface="Noto Sans" pitchFamily="34" charset="-120"/>
              </a:rPr>
              <a:t>A2</a:t>
            </a:r>
            <a:endParaRPr lang="en-US" sz="1200" dirty="0"/>
          </a:p>
        </p:txBody>
      </p:sp>
      <p:sp>
        <p:nvSpPr>
          <p:cNvPr id="20" name="Text 18"/>
          <p:cNvSpPr/>
          <p:nvPr/>
        </p:nvSpPr>
        <p:spPr>
          <a:xfrm>
            <a:off x="9666580" y="1764792"/>
            <a:ext cx="365760" cy="274320"/>
          </a:xfrm>
          <a:prstGeom prst="rect">
            <a:avLst/>
          </a:prstGeom>
          <a:noFill/>
          <a:ln/>
        </p:spPr>
        <p:txBody>
          <a:bodyPr wrap="square" rtlCol="0" anchor="ctr"/>
          <a:lstStyle/>
          <a:p>
            <a:pPr algn="ctr" indent="0" marL="0">
              <a:buNone/>
            </a:pPr>
            <a:r>
              <a:rPr lang="en-US" sz="1100" b="1" dirty="0">
                <a:solidFill>
                  <a:srgbClr val="52525B"/>
                </a:solidFill>
                <a:latin typeface="Noto Sans" pitchFamily="34" charset="0"/>
                <a:ea typeface="Noto Sans" pitchFamily="34" charset="-122"/>
                <a:cs typeface="Noto Sans" pitchFamily="34" charset="-120"/>
              </a:rPr>
              <a:t>2</a:t>
            </a:r>
            <a:endParaRPr lang="en-US" sz="1100" dirty="0"/>
          </a:p>
        </p:txBody>
      </p:sp>
      <p:sp>
        <p:nvSpPr>
          <p:cNvPr id="21" name="Shape 19"/>
          <p:cNvSpPr/>
          <p:nvPr/>
        </p:nvSpPr>
        <p:spPr>
          <a:xfrm>
            <a:off x="10557717" y="1965960"/>
            <a:ext cx="621792" cy="621792"/>
          </a:xfrm>
          <a:prstGeom prst="ellipse">
            <a:avLst/>
          </a:prstGeom>
          <a:solidFill>
            <a:srgbClr val="FFFFFF"/>
          </a:solidFill>
          <a:ln w="19050">
            <a:solidFill>
              <a:srgbClr val="0A0A0A"/>
            </a:solidFill>
            <a:prstDash val="solid"/>
          </a:ln>
        </p:spPr>
      </p:sp>
      <p:sp>
        <p:nvSpPr>
          <p:cNvPr id="22" name="Text 20"/>
          <p:cNvSpPr/>
          <p:nvPr/>
        </p:nvSpPr>
        <p:spPr>
          <a:xfrm>
            <a:off x="10557717" y="1965960"/>
            <a:ext cx="621792" cy="621792"/>
          </a:xfrm>
          <a:prstGeom prst="rect">
            <a:avLst/>
          </a:prstGeom>
          <a:noFill/>
          <a:ln/>
        </p:spPr>
        <p:txBody>
          <a:bodyPr wrap="square" rtlCol="0" anchor="ctr"/>
          <a:lstStyle/>
          <a:p>
            <a:pPr algn="ctr" indent="0" marL="0">
              <a:buNone/>
            </a:pPr>
            <a:r>
              <a:rPr lang="en-US" sz="1200" b="1" dirty="0">
                <a:solidFill>
                  <a:srgbClr val="0A0A0A"/>
                </a:solidFill>
                <a:latin typeface="Noto Sans" pitchFamily="34" charset="0"/>
                <a:ea typeface="Noto Sans" pitchFamily="34" charset="-122"/>
                <a:cs typeface="Noto Sans" pitchFamily="34" charset="-120"/>
              </a:rPr>
              <a:t>A3</a:t>
            </a:r>
            <a:endParaRPr lang="en-US" sz="1200" dirty="0"/>
          </a:p>
        </p:txBody>
      </p:sp>
      <p:sp>
        <p:nvSpPr>
          <p:cNvPr id="23" name="Text 21"/>
          <p:cNvSpPr/>
          <p:nvPr/>
        </p:nvSpPr>
        <p:spPr>
          <a:xfrm>
            <a:off x="11124645" y="1764792"/>
            <a:ext cx="365760" cy="274320"/>
          </a:xfrm>
          <a:prstGeom prst="rect">
            <a:avLst/>
          </a:prstGeom>
          <a:noFill/>
          <a:ln/>
        </p:spPr>
        <p:txBody>
          <a:bodyPr wrap="square" rtlCol="0" anchor="ctr"/>
          <a:lstStyle/>
          <a:p>
            <a:pPr algn="ctr" indent="0" marL="0">
              <a:buNone/>
            </a:pPr>
            <a:r>
              <a:rPr lang="en-US" sz="1100" b="1" dirty="0">
                <a:solidFill>
                  <a:srgbClr val="52525B"/>
                </a:solidFill>
                <a:latin typeface="Noto Sans" pitchFamily="34" charset="0"/>
                <a:ea typeface="Noto Sans" pitchFamily="34" charset="-122"/>
                <a:cs typeface="Noto Sans" pitchFamily="34" charset="-120"/>
              </a:rPr>
              <a:t>3</a:t>
            </a:r>
            <a:endParaRPr lang="en-US" sz="1100" dirty="0"/>
          </a:p>
        </p:txBody>
      </p:sp>
      <p:sp>
        <p:nvSpPr>
          <p:cNvPr id="24" name="Shape 22"/>
          <p:cNvSpPr/>
          <p:nvPr/>
        </p:nvSpPr>
        <p:spPr>
          <a:xfrm>
            <a:off x="7641586" y="3529584"/>
            <a:ext cx="621792" cy="621792"/>
          </a:xfrm>
          <a:prstGeom prst="ellipse">
            <a:avLst/>
          </a:prstGeom>
          <a:solidFill>
            <a:srgbClr val="FFFFFF"/>
          </a:solidFill>
          <a:ln w="19050">
            <a:solidFill>
              <a:srgbClr val="0A0A0A"/>
            </a:solidFill>
            <a:prstDash val="solid"/>
          </a:ln>
        </p:spPr>
      </p:sp>
      <p:sp>
        <p:nvSpPr>
          <p:cNvPr id="25" name="Text 23"/>
          <p:cNvSpPr/>
          <p:nvPr/>
        </p:nvSpPr>
        <p:spPr>
          <a:xfrm>
            <a:off x="7641586" y="3529584"/>
            <a:ext cx="621792" cy="621792"/>
          </a:xfrm>
          <a:prstGeom prst="rect">
            <a:avLst/>
          </a:prstGeom>
          <a:noFill/>
          <a:ln/>
        </p:spPr>
        <p:txBody>
          <a:bodyPr wrap="square" rtlCol="0" anchor="ctr"/>
          <a:lstStyle/>
          <a:p>
            <a:pPr algn="ctr" indent="0" marL="0">
              <a:buNone/>
            </a:pPr>
            <a:r>
              <a:rPr lang="en-US" sz="1200" b="1" dirty="0">
                <a:solidFill>
                  <a:srgbClr val="0A0A0A"/>
                </a:solidFill>
                <a:latin typeface="Noto Sans" pitchFamily="34" charset="0"/>
                <a:ea typeface="Noto Sans" pitchFamily="34" charset="-122"/>
                <a:cs typeface="Noto Sans" pitchFamily="34" charset="-120"/>
              </a:rPr>
              <a:t>B1</a:t>
            </a:r>
            <a:endParaRPr lang="en-US" sz="1200" dirty="0"/>
          </a:p>
        </p:txBody>
      </p:sp>
      <p:sp>
        <p:nvSpPr>
          <p:cNvPr id="26" name="Text 24"/>
          <p:cNvSpPr/>
          <p:nvPr/>
        </p:nvSpPr>
        <p:spPr>
          <a:xfrm>
            <a:off x="8208514" y="3328416"/>
            <a:ext cx="365760" cy="274320"/>
          </a:xfrm>
          <a:prstGeom prst="rect">
            <a:avLst/>
          </a:prstGeom>
          <a:noFill/>
          <a:ln/>
        </p:spPr>
        <p:txBody>
          <a:bodyPr wrap="square" rtlCol="0" anchor="ctr"/>
          <a:lstStyle/>
          <a:p>
            <a:pPr algn="ctr" indent="0" marL="0">
              <a:buNone/>
            </a:pPr>
            <a:r>
              <a:rPr lang="en-US" sz="1100" b="1" dirty="0">
                <a:solidFill>
                  <a:srgbClr val="52525B"/>
                </a:solidFill>
                <a:latin typeface="Noto Sans" pitchFamily="34" charset="0"/>
                <a:ea typeface="Noto Sans" pitchFamily="34" charset="-122"/>
                <a:cs typeface="Noto Sans" pitchFamily="34" charset="-120"/>
              </a:rPr>
              <a:t>4</a:t>
            </a:r>
            <a:endParaRPr lang="en-US" sz="1100" dirty="0"/>
          </a:p>
        </p:txBody>
      </p:sp>
      <p:sp>
        <p:nvSpPr>
          <p:cNvPr id="27" name="Shape 25"/>
          <p:cNvSpPr/>
          <p:nvPr/>
        </p:nvSpPr>
        <p:spPr>
          <a:xfrm>
            <a:off x="9099652" y="3529584"/>
            <a:ext cx="621792" cy="621792"/>
          </a:xfrm>
          <a:prstGeom prst="ellipse">
            <a:avLst/>
          </a:prstGeom>
          <a:solidFill>
            <a:srgbClr val="FFFFFF"/>
          </a:solidFill>
          <a:ln w="19050">
            <a:solidFill>
              <a:srgbClr val="0A0A0A"/>
            </a:solidFill>
            <a:prstDash val="solid"/>
          </a:ln>
        </p:spPr>
      </p:sp>
      <p:sp>
        <p:nvSpPr>
          <p:cNvPr id="28" name="Text 26"/>
          <p:cNvSpPr/>
          <p:nvPr/>
        </p:nvSpPr>
        <p:spPr>
          <a:xfrm>
            <a:off x="9099652" y="3529584"/>
            <a:ext cx="621792" cy="621792"/>
          </a:xfrm>
          <a:prstGeom prst="rect">
            <a:avLst/>
          </a:prstGeom>
          <a:noFill/>
          <a:ln/>
        </p:spPr>
        <p:txBody>
          <a:bodyPr wrap="square" rtlCol="0" anchor="ctr"/>
          <a:lstStyle/>
          <a:p>
            <a:pPr algn="ctr" indent="0" marL="0">
              <a:buNone/>
            </a:pPr>
            <a:r>
              <a:rPr lang="en-US" sz="1200" b="1" dirty="0">
                <a:solidFill>
                  <a:srgbClr val="0A0A0A"/>
                </a:solidFill>
                <a:latin typeface="Noto Sans" pitchFamily="34" charset="0"/>
                <a:ea typeface="Noto Sans" pitchFamily="34" charset="-122"/>
                <a:cs typeface="Noto Sans" pitchFamily="34" charset="-120"/>
              </a:rPr>
              <a:t>B2</a:t>
            </a:r>
            <a:endParaRPr lang="en-US" sz="1200" dirty="0"/>
          </a:p>
        </p:txBody>
      </p:sp>
      <p:sp>
        <p:nvSpPr>
          <p:cNvPr id="29" name="Text 27"/>
          <p:cNvSpPr/>
          <p:nvPr/>
        </p:nvSpPr>
        <p:spPr>
          <a:xfrm>
            <a:off x="9666580" y="3328416"/>
            <a:ext cx="365760" cy="274320"/>
          </a:xfrm>
          <a:prstGeom prst="rect">
            <a:avLst/>
          </a:prstGeom>
          <a:noFill/>
          <a:ln/>
        </p:spPr>
        <p:txBody>
          <a:bodyPr wrap="square" rtlCol="0" anchor="ctr"/>
          <a:lstStyle/>
          <a:p>
            <a:pPr algn="ctr" indent="0" marL="0">
              <a:buNone/>
            </a:pPr>
            <a:r>
              <a:rPr lang="en-US" sz="1100" b="1" dirty="0">
                <a:solidFill>
                  <a:srgbClr val="52525B"/>
                </a:solidFill>
                <a:latin typeface="Noto Sans" pitchFamily="34" charset="0"/>
                <a:ea typeface="Noto Sans" pitchFamily="34" charset="-122"/>
                <a:cs typeface="Noto Sans" pitchFamily="34" charset="-120"/>
              </a:rPr>
              <a:t>5</a:t>
            </a:r>
            <a:endParaRPr lang="en-US" sz="1100" dirty="0"/>
          </a:p>
        </p:txBody>
      </p:sp>
      <p:sp>
        <p:nvSpPr>
          <p:cNvPr id="30" name="Shape 28"/>
          <p:cNvSpPr/>
          <p:nvPr/>
        </p:nvSpPr>
        <p:spPr>
          <a:xfrm>
            <a:off x="10557717" y="3529584"/>
            <a:ext cx="621792" cy="621792"/>
          </a:xfrm>
          <a:prstGeom prst="ellipse">
            <a:avLst/>
          </a:prstGeom>
          <a:solidFill>
            <a:srgbClr val="FFFFFF"/>
          </a:solidFill>
          <a:ln w="19050">
            <a:solidFill>
              <a:srgbClr val="0A0A0A"/>
            </a:solidFill>
            <a:prstDash val="solid"/>
          </a:ln>
        </p:spPr>
      </p:sp>
      <p:sp>
        <p:nvSpPr>
          <p:cNvPr id="31" name="Text 29"/>
          <p:cNvSpPr/>
          <p:nvPr/>
        </p:nvSpPr>
        <p:spPr>
          <a:xfrm>
            <a:off x="10557717" y="3529584"/>
            <a:ext cx="621792" cy="621792"/>
          </a:xfrm>
          <a:prstGeom prst="rect">
            <a:avLst/>
          </a:prstGeom>
          <a:noFill/>
          <a:ln/>
        </p:spPr>
        <p:txBody>
          <a:bodyPr wrap="square" rtlCol="0" anchor="ctr"/>
          <a:lstStyle/>
          <a:p>
            <a:pPr algn="ctr" indent="0" marL="0">
              <a:buNone/>
            </a:pPr>
            <a:r>
              <a:rPr lang="en-US" sz="1200" b="1" dirty="0">
                <a:solidFill>
                  <a:srgbClr val="0A0A0A"/>
                </a:solidFill>
                <a:latin typeface="Noto Sans" pitchFamily="34" charset="0"/>
                <a:ea typeface="Noto Sans" pitchFamily="34" charset="-122"/>
                <a:cs typeface="Noto Sans" pitchFamily="34" charset="-120"/>
              </a:rPr>
              <a:t>B3</a:t>
            </a:r>
            <a:endParaRPr lang="en-US" sz="1200" dirty="0"/>
          </a:p>
        </p:txBody>
      </p:sp>
      <p:sp>
        <p:nvSpPr>
          <p:cNvPr id="32" name="Text 30"/>
          <p:cNvSpPr/>
          <p:nvPr/>
        </p:nvSpPr>
        <p:spPr>
          <a:xfrm>
            <a:off x="11124645" y="3328416"/>
            <a:ext cx="365760" cy="274320"/>
          </a:xfrm>
          <a:prstGeom prst="rect">
            <a:avLst/>
          </a:prstGeom>
          <a:noFill/>
          <a:ln/>
        </p:spPr>
        <p:txBody>
          <a:bodyPr wrap="square" rtlCol="0" anchor="ctr"/>
          <a:lstStyle/>
          <a:p>
            <a:pPr algn="ctr" indent="0" marL="0">
              <a:buNone/>
            </a:pPr>
            <a:r>
              <a:rPr lang="en-US" sz="1100" b="1" dirty="0">
                <a:solidFill>
                  <a:srgbClr val="52525B"/>
                </a:solidFill>
                <a:latin typeface="Noto Sans" pitchFamily="34" charset="0"/>
                <a:ea typeface="Noto Sans" pitchFamily="34" charset="-122"/>
                <a:cs typeface="Noto Sans" pitchFamily="34" charset="-120"/>
              </a:rPr>
              <a:t>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4 · VÍ DỤ MINH HỌA TỪNG BƯỚC</a:t>
            </a:r>
            <a:endParaRPr lang="en-US" sz="1100" dirty="0"/>
          </a:p>
        </p:txBody>
      </p:sp>
      <p:sp>
        <p:nvSpPr>
          <p:cNvPr id="3" name="Text 1"/>
          <p:cNvSpPr/>
          <p:nvPr/>
        </p:nvSpPr>
        <p:spPr>
          <a:xfrm>
            <a:off x="502920" y="548640"/>
            <a:ext cx="8899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Ví dụ chung: thiết lập dữ liệu</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Shape 3"/>
          <p:cNvSpPr/>
          <p:nvPr/>
        </p:nvSpPr>
        <p:spPr>
          <a:xfrm>
            <a:off x="9539935" y="384048"/>
            <a:ext cx="2148840" cy="420624"/>
          </a:xfrm>
          <a:prstGeom prst="roundRect">
            <a:avLst>
              <a:gd name="adj" fmla="val 17391"/>
            </a:avLst>
          </a:prstGeom>
          <a:solidFill>
            <a:srgbClr val="18181B"/>
          </a:solidFill>
          <a:ln/>
        </p:spPr>
      </p:sp>
      <p:sp>
        <p:nvSpPr>
          <p:cNvPr id="6" name="Text 4"/>
          <p:cNvSpPr/>
          <p:nvPr/>
        </p:nvSpPr>
        <p:spPr>
          <a:xfrm>
            <a:off x="9539935" y="384048"/>
            <a:ext cx="2148840" cy="420624"/>
          </a:xfrm>
          <a:prstGeom prst="rect">
            <a:avLst/>
          </a:prstGeom>
          <a:noFill/>
          <a:ln/>
        </p:spPr>
        <p:txBody>
          <a:bodyPr wrap="square" rtlCol="0" anchor="ctr"/>
          <a:lstStyle/>
          <a:p>
            <a:pPr algn="ctr" indent="0" marL="0">
              <a:buNone/>
            </a:pPr>
            <a:r>
              <a:rPr lang="en-US" sz="1100" b="1" dirty="0">
                <a:solidFill>
                  <a:srgbClr val="FFFFFF"/>
                </a:solidFill>
                <a:latin typeface="Noto Sans" pitchFamily="34" charset="0"/>
                <a:ea typeface="Noto Sans" pitchFamily="34" charset="-122"/>
                <a:cs typeface="Noto Sans" pitchFamily="34" charset="-120"/>
              </a:rPr>
              <a:t>▶ DEMO TRỰC TIẾP</a:t>
            </a:r>
            <a:endParaRPr lang="en-US" sz="1100" dirty="0"/>
          </a:p>
        </p:txBody>
      </p:sp>
      <p:sp>
        <p:nvSpPr>
          <p:cNvPr id="7" name="Text 5"/>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16 / 35</a:t>
            </a:r>
            <a:endParaRPr lang="en-US" sz="1000" dirty="0"/>
          </a:p>
        </p:txBody>
      </p:sp>
      <p:sp>
        <p:nvSpPr>
          <p:cNvPr id="8" name="Text 6"/>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9" name="Text 7"/>
          <p:cNvSpPr/>
          <p:nvPr/>
        </p:nvSpPr>
        <p:spPr>
          <a:xfrm>
            <a:off x="502920" y="1417320"/>
            <a:ext cx="6309360" cy="1700784"/>
          </a:xfrm>
          <a:prstGeom prst="rect">
            <a:avLst/>
          </a:prstGeom>
          <a:noFill/>
          <a:ln/>
        </p:spPr>
        <p:txBody>
          <a:bodyPr wrap="square" rtlCol="0" anchor="t"/>
          <a:lstStyle/>
          <a:p>
            <a:pPr marL="228600" indent="-228600">
              <a:lnSpc>
                <a:spcPts val="2200"/>
              </a:lnSpc>
              <a:spcAft>
                <a:spcPts val="1000"/>
              </a:spcAft>
              <a:buSzPct val="100000"/>
              <a:buChar char="•"/>
            </a:pPr>
            <a:r>
              <a:rPr lang="en-US" sz="1550" dirty="0">
                <a:solidFill>
                  <a:srgbClr val="0A0A0A"/>
                </a:solidFill>
                <a:latin typeface="Noto Sans" pitchFamily="34" charset="0"/>
                <a:ea typeface="Noto Sans" pitchFamily="34" charset="-122"/>
                <a:cs typeface="Noto Sans" pitchFamily="34" charset="-120"/>
              </a:rPr>
              <a:t>6 loài: A1, B1, A2, B2, A3, B3 (đúng thứ tự nhập).</a:t>
            </a:r>
            <a:endParaRPr lang="en-US" sz="1550" dirty="0"/>
          </a:p>
          <a:p>
            <a:pPr marL="228600" indent="-228600">
              <a:lnSpc>
                <a:spcPts val="2200"/>
              </a:lnSpc>
              <a:spcAft>
                <a:spcPts val="1000"/>
              </a:spcAft>
              <a:buSzPct val="100000"/>
              <a:buChar char="•"/>
            </a:pPr>
            <a:r>
              <a:rPr lang="en-US" sz="1550" dirty="0">
                <a:solidFill>
                  <a:srgbClr val="0A0A0A"/>
                </a:solidFill>
                <a:latin typeface="Noto Sans" pitchFamily="34" charset="0"/>
                <a:ea typeface="Noto Sans" pitchFamily="34" charset="-122"/>
                <a:cs typeface="Noto Sans" pitchFamily="34" charset="-120"/>
              </a:rPr>
              <a:t>Cạnh: Ai–Bj với i ≠ j (6 cạnh).</a:t>
            </a:r>
            <a:endParaRPr lang="en-US" sz="1550" dirty="0"/>
          </a:p>
          <a:p>
            <a:pPr marL="228600" indent="-228600">
              <a:lnSpc>
                <a:spcPts val="2200"/>
              </a:lnSpc>
              <a:spcAft>
                <a:spcPts val="1000"/>
              </a:spcAft>
              <a:buSzPct val="100000"/>
              <a:buChar char="•"/>
            </a:pPr>
            <a:r>
              <a:rPr lang="en-US" sz="1550" dirty="0">
                <a:solidFill>
                  <a:srgbClr val="0A0A0A"/>
                </a:solidFill>
                <a:latin typeface="Noto Sans" pitchFamily="34" charset="0"/>
                <a:ea typeface="Noto Sans" pitchFamily="34" charset="-122"/>
                <a:cs typeface="Noto Sans" pitchFamily="34" charset="-120"/>
              </a:rPr>
              <a:t>Chế độ "Tô bằng k màu cho sẵn", k = 2.</a:t>
            </a:r>
            <a:endParaRPr lang="en-US" sz="1550" dirty="0"/>
          </a:p>
          <a:p>
            <a:pPr marL="228600" indent="-228600">
              <a:lnSpc>
                <a:spcPts val="2200"/>
              </a:lnSpc>
              <a:spcAft>
                <a:spcPts val="1000"/>
              </a:spcAft>
              <a:buSzPct val="100000"/>
              <a:buChar char="•"/>
            </a:pPr>
            <a:r>
              <a:rPr lang="en-US" sz="1550" dirty="0">
                <a:solidFill>
                  <a:srgbClr val="0A0A0A"/>
                </a:solidFill>
                <a:latin typeface="Noto Sans" pitchFamily="34" charset="0"/>
                <a:ea typeface="Noto Sans" pitchFamily="34" charset="-122"/>
                <a:cs typeface="Noto Sans" pitchFamily="34" charset="-120"/>
              </a:rPr>
              <a:t>JSON dán trực tiếp vào tab "Chỉnh JSON" — dữ liệu cập nhật ngay, không cần nút áp dụng.</a:t>
            </a:r>
            <a:endParaRPr lang="en-US" sz="1550" dirty="0"/>
          </a:p>
        </p:txBody>
      </p:sp>
      <p:sp>
        <p:nvSpPr>
          <p:cNvPr id="10" name="Text 8"/>
          <p:cNvSpPr/>
          <p:nvPr/>
        </p:nvSpPr>
        <p:spPr>
          <a:xfrm>
            <a:off x="7132320" y="1417320"/>
            <a:ext cx="4556455" cy="274320"/>
          </a:xfrm>
          <a:prstGeom prst="rect">
            <a:avLst/>
          </a:prstGeom>
          <a:noFill/>
          <a:ln/>
        </p:spPr>
        <p:txBody>
          <a:bodyPr wrap="square" rtlCol="0" anchor="ctr"/>
          <a:lstStyle/>
          <a:p>
            <a:pPr indent="0" marL="0">
              <a:buNone/>
            </a:pPr>
            <a:r>
              <a:rPr lang="en-US" sz="1200" b="1" dirty="0">
                <a:solidFill>
                  <a:srgbClr val="52525B"/>
                </a:solidFill>
                <a:latin typeface="Noto Sans" pitchFamily="34" charset="0"/>
                <a:ea typeface="Noto Sans" pitchFamily="34" charset="-122"/>
                <a:cs typeface="Noto Sans" pitchFamily="34" charset="-120"/>
              </a:rPr>
              <a:t>JSON ví dụ chung</a:t>
            </a:r>
            <a:endParaRPr lang="en-US" sz="1200" dirty="0"/>
          </a:p>
        </p:txBody>
      </p:sp>
      <p:sp>
        <p:nvSpPr>
          <p:cNvPr id="11" name="Shape 9"/>
          <p:cNvSpPr/>
          <p:nvPr/>
        </p:nvSpPr>
        <p:spPr>
          <a:xfrm>
            <a:off x="7132320" y="1783080"/>
            <a:ext cx="4556455" cy="3346704"/>
          </a:xfrm>
          <a:prstGeom prst="roundRect">
            <a:avLst>
              <a:gd name="adj" fmla="val 1639"/>
            </a:avLst>
          </a:prstGeom>
          <a:solidFill>
            <a:srgbClr val="F4F4F5"/>
          </a:solidFill>
          <a:ln w="9525">
            <a:solidFill>
              <a:srgbClr val="E4E4E7"/>
            </a:solidFill>
            <a:prstDash val="solid"/>
          </a:ln>
        </p:spPr>
      </p:sp>
      <p:sp>
        <p:nvSpPr>
          <p:cNvPr id="12" name="Text 10"/>
          <p:cNvSpPr/>
          <p:nvPr/>
        </p:nvSpPr>
        <p:spPr>
          <a:xfrm>
            <a:off x="7333488" y="1911096"/>
            <a:ext cx="4154119" cy="3090672"/>
          </a:xfrm>
          <a:prstGeom prst="rect">
            <a:avLst/>
          </a:prstGeom>
          <a:noFill/>
          <a:ln/>
        </p:spPr>
        <p:txBody>
          <a:bodyPr wrap="square" rtlCol="0" anchor="t"/>
          <a:lstStyle/>
          <a:p>
            <a:pPr indent="0" marL="0">
              <a:lnSpc>
                <a:spcPts val="1700"/>
              </a:lnSpc>
              <a:buNone/>
            </a:pPr>
            <a:r>
              <a:rPr lang="en-US" sz="1100" dirty="0">
                <a:solidFill>
                  <a:srgbClr val="0A0A0A"/>
                </a:solidFill>
                <a:latin typeface="Noto Sans Mono" pitchFamily="34" charset="0"/>
                <a:ea typeface="Noto Sans Mono" pitchFamily="34" charset="-122"/>
                <a:cs typeface="Noto Sans Mono" pitchFamily="34" charset="-120"/>
              </a:rPr>
              <a:t>{</a:t>
            </a:r>
            <a:endParaRPr lang="en-US" sz="1100" dirty="0"/>
          </a:p>
          <a:p>
            <a:pPr indent="0" marL="0">
              <a:lnSpc>
                <a:spcPts val="1700"/>
              </a:lnSpc>
              <a:buNone/>
            </a:pPr>
            <a:r>
              <a:rPr lang="en-US" sz="1100" dirty="0">
                <a:solidFill>
                  <a:srgbClr val="0A0A0A"/>
                </a:solidFill>
                <a:latin typeface="Noto Sans Mono" pitchFamily="34" charset="0"/>
                <a:ea typeface="Noto Sans Mono" pitchFamily="34" charset="-122"/>
                <a:cs typeface="Noto Sans Mono" pitchFamily="34" charset="-120"/>
              </a:rPr>
              <a:t>  "nodes": ["A1","B1","A2",</a:t>
            </a:r>
            <a:endParaRPr lang="en-US" sz="1100" dirty="0"/>
          </a:p>
          <a:p>
            <a:pPr indent="0" marL="0">
              <a:lnSpc>
                <a:spcPts val="1700"/>
              </a:lnSpc>
              <a:buNone/>
            </a:pPr>
            <a:r>
              <a:rPr lang="en-US" sz="1100" dirty="0">
                <a:solidFill>
                  <a:srgbClr val="0A0A0A"/>
                </a:solidFill>
                <a:latin typeface="Noto Sans Mono" pitchFamily="34" charset="0"/>
                <a:ea typeface="Noto Sans Mono" pitchFamily="34" charset="-122"/>
                <a:cs typeface="Noto Sans Mono" pitchFamily="34" charset="-120"/>
              </a:rPr>
              <a:t>            "B2","A3","B3"],</a:t>
            </a:r>
            <a:endParaRPr lang="en-US" sz="1100" dirty="0"/>
          </a:p>
          <a:p>
            <a:pPr indent="0" marL="0">
              <a:lnSpc>
                <a:spcPts val="1700"/>
              </a:lnSpc>
              <a:buNone/>
            </a:pPr>
            <a:r>
              <a:rPr lang="en-US" sz="1100" dirty="0">
                <a:solidFill>
                  <a:srgbClr val="0A0A0A"/>
                </a:solidFill>
                <a:latin typeface="Noto Sans Mono" pitchFamily="34" charset="0"/>
                <a:ea typeface="Noto Sans Mono" pitchFamily="34" charset="-122"/>
                <a:cs typeface="Noto Sans Mono" pitchFamily="34" charset="-120"/>
              </a:rPr>
              <a:t>  "edges": [</a:t>
            </a:r>
            <a:endParaRPr lang="en-US" sz="1100" dirty="0"/>
          </a:p>
          <a:p>
            <a:pPr indent="0" marL="0">
              <a:lnSpc>
                <a:spcPts val="1700"/>
              </a:lnSpc>
              <a:buNone/>
            </a:pPr>
            <a:r>
              <a:rPr lang="en-US" sz="1100" dirty="0">
                <a:solidFill>
                  <a:srgbClr val="0A0A0A"/>
                </a:solidFill>
                <a:latin typeface="Noto Sans Mono" pitchFamily="34" charset="0"/>
                <a:ea typeface="Noto Sans Mono" pitchFamily="34" charset="-122"/>
                <a:cs typeface="Noto Sans Mono" pitchFamily="34" charset="-120"/>
              </a:rPr>
              <a:t>    {"from":"A1","to":"B2"},</a:t>
            </a:r>
            <a:endParaRPr lang="en-US" sz="1100" dirty="0"/>
          </a:p>
          <a:p>
            <a:pPr indent="0" marL="0">
              <a:lnSpc>
                <a:spcPts val="1700"/>
              </a:lnSpc>
              <a:buNone/>
            </a:pPr>
            <a:r>
              <a:rPr lang="en-US" sz="1100" dirty="0">
                <a:solidFill>
                  <a:srgbClr val="0A0A0A"/>
                </a:solidFill>
                <a:latin typeface="Noto Sans Mono" pitchFamily="34" charset="0"/>
                <a:ea typeface="Noto Sans Mono" pitchFamily="34" charset="-122"/>
                <a:cs typeface="Noto Sans Mono" pitchFamily="34" charset="-120"/>
              </a:rPr>
              <a:t>    {"from":"A1","to":"B3"},</a:t>
            </a:r>
            <a:endParaRPr lang="en-US" sz="1100" dirty="0"/>
          </a:p>
          <a:p>
            <a:pPr indent="0" marL="0">
              <a:lnSpc>
                <a:spcPts val="1700"/>
              </a:lnSpc>
              <a:buNone/>
            </a:pPr>
            <a:r>
              <a:rPr lang="en-US" sz="1100" dirty="0">
                <a:solidFill>
                  <a:srgbClr val="0A0A0A"/>
                </a:solidFill>
                <a:latin typeface="Noto Sans Mono" pitchFamily="34" charset="0"/>
                <a:ea typeface="Noto Sans Mono" pitchFamily="34" charset="-122"/>
                <a:cs typeface="Noto Sans Mono" pitchFamily="34" charset="-120"/>
              </a:rPr>
              <a:t>    {"from":"A2","to":"B1"},</a:t>
            </a:r>
            <a:endParaRPr lang="en-US" sz="1100" dirty="0"/>
          </a:p>
          <a:p>
            <a:pPr indent="0" marL="0">
              <a:lnSpc>
                <a:spcPts val="1700"/>
              </a:lnSpc>
              <a:buNone/>
            </a:pPr>
            <a:r>
              <a:rPr lang="en-US" sz="1100" dirty="0">
                <a:solidFill>
                  <a:srgbClr val="0A0A0A"/>
                </a:solidFill>
                <a:latin typeface="Noto Sans Mono" pitchFamily="34" charset="0"/>
                <a:ea typeface="Noto Sans Mono" pitchFamily="34" charset="-122"/>
                <a:cs typeface="Noto Sans Mono" pitchFamily="34" charset="-120"/>
              </a:rPr>
              <a:t>    {"from":"A2","to":"B3"},</a:t>
            </a:r>
            <a:endParaRPr lang="en-US" sz="1100" dirty="0"/>
          </a:p>
          <a:p>
            <a:pPr indent="0" marL="0">
              <a:lnSpc>
                <a:spcPts val="1700"/>
              </a:lnSpc>
              <a:buNone/>
            </a:pPr>
            <a:r>
              <a:rPr lang="en-US" sz="1100" dirty="0">
                <a:solidFill>
                  <a:srgbClr val="0A0A0A"/>
                </a:solidFill>
                <a:latin typeface="Noto Sans Mono" pitchFamily="34" charset="0"/>
                <a:ea typeface="Noto Sans Mono" pitchFamily="34" charset="-122"/>
                <a:cs typeface="Noto Sans Mono" pitchFamily="34" charset="-120"/>
              </a:rPr>
              <a:t>    {"from":"A3","to":"B1"},</a:t>
            </a:r>
            <a:endParaRPr lang="en-US" sz="1100" dirty="0"/>
          </a:p>
          <a:p>
            <a:pPr indent="0" marL="0">
              <a:lnSpc>
                <a:spcPts val="1700"/>
              </a:lnSpc>
              <a:buNone/>
            </a:pPr>
            <a:r>
              <a:rPr lang="en-US" sz="1100" dirty="0">
                <a:solidFill>
                  <a:srgbClr val="0A0A0A"/>
                </a:solidFill>
                <a:latin typeface="Noto Sans Mono" pitchFamily="34" charset="0"/>
                <a:ea typeface="Noto Sans Mono" pitchFamily="34" charset="-122"/>
                <a:cs typeface="Noto Sans Mono" pitchFamily="34" charset="-120"/>
              </a:rPr>
              <a:t>    {"from":"A3","to":"B2"}],</a:t>
            </a:r>
            <a:endParaRPr lang="en-US" sz="1100" dirty="0"/>
          </a:p>
          <a:p>
            <a:pPr indent="0" marL="0">
              <a:lnSpc>
                <a:spcPts val="1700"/>
              </a:lnSpc>
              <a:buNone/>
            </a:pPr>
            <a:r>
              <a:rPr lang="en-US" sz="1100" dirty="0">
                <a:solidFill>
                  <a:srgbClr val="0A0A0A"/>
                </a:solidFill>
                <a:latin typeface="Noto Sans Mono" pitchFamily="34" charset="0"/>
                <a:ea typeface="Noto Sans Mono" pitchFamily="34" charset="-122"/>
                <a:cs typeface="Noto Sans Mono" pitchFamily="34" charset="-120"/>
              </a:rPr>
              <a:t>  "colors": 2</a:t>
            </a:r>
            <a:endParaRPr lang="en-US" sz="1100" dirty="0"/>
          </a:p>
          <a:p>
            <a:pPr indent="0" marL="0">
              <a:lnSpc>
                <a:spcPts val="1700"/>
              </a:lnSpc>
              <a:buNone/>
            </a:pPr>
            <a:r>
              <a:rPr lang="en-US" sz="1100" dirty="0">
                <a:solidFill>
                  <a:srgbClr val="0A0A0A"/>
                </a:solidFill>
                <a:latin typeface="Noto Sans Mono" pitchFamily="34" charset="0"/>
                <a:ea typeface="Noto Sans Mono" pitchFamily="34" charset="-122"/>
                <a:cs typeface="Noto Sans Mono" pitchFamily="34" charset="-120"/>
              </a:rPr>
              <a: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4 · VÍ DỤ MINH HỌA TỪNG BƯỚC</a:t>
            </a:r>
            <a:endParaRPr lang="en-US" sz="1100" dirty="0"/>
          </a:p>
        </p:txBody>
      </p:sp>
      <p:sp>
        <p:nvSpPr>
          <p:cNvPr id="3" name="Text 1"/>
          <p:cNvSpPr/>
          <p:nvPr/>
        </p:nvSpPr>
        <p:spPr>
          <a:xfrm>
            <a:off x="502920" y="548640"/>
            <a:ext cx="8899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Quay lui — bước 1 đến 9: đi tới bế tắc</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Shape 3"/>
          <p:cNvSpPr/>
          <p:nvPr/>
        </p:nvSpPr>
        <p:spPr>
          <a:xfrm>
            <a:off x="9539935" y="384048"/>
            <a:ext cx="2148840" cy="420624"/>
          </a:xfrm>
          <a:prstGeom prst="roundRect">
            <a:avLst>
              <a:gd name="adj" fmla="val 17391"/>
            </a:avLst>
          </a:prstGeom>
          <a:solidFill>
            <a:srgbClr val="18181B"/>
          </a:solidFill>
          <a:ln/>
        </p:spPr>
      </p:sp>
      <p:sp>
        <p:nvSpPr>
          <p:cNvPr id="6" name="Text 4"/>
          <p:cNvSpPr/>
          <p:nvPr/>
        </p:nvSpPr>
        <p:spPr>
          <a:xfrm>
            <a:off x="9539935" y="384048"/>
            <a:ext cx="2148840" cy="420624"/>
          </a:xfrm>
          <a:prstGeom prst="rect">
            <a:avLst/>
          </a:prstGeom>
          <a:noFill/>
          <a:ln/>
        </p:spPr>
        <p:txBody>
          <a:bodyPr wrap="square" rtlCol="0" anchor="ctr"/>
          <a:lstStyle/>
          <a:p>
            <a:pPr algn="ctr" indent="0" marL="0">
              <a:buNone/>
            </a:pPr>
            <a:r>
              <a:rPr lang="en-US" sz="1100" b="1" dirty="0">
                <a:solidFill>
                  <a:srgbClr val="FFFFFF"/>
                </a:solidFill>
                <a:latin typeface="Noto Sans" pitchFamily="34" charset="0"/>
                <a:ea typeface="Noto Sans" pitchFamily="34" charset="-122"/>
                <a:cs typeface="Noto Sans" pitchFamily="34" charset="-120"/>
              </a:rPr>
              <a:t>▶ DEMO TRỰC TIẾP</a:t>
            </a:r>
            <a:endParaRPr lang="en-US" sz="1100" dirty="0"/>
          </a:p>
        </p:txBody>
      </p:sp>
      <p:sp>
        <p:nvSpPr>
          <p:cNvPr id="7" name="Text 5"/>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17 / 35</a:t>
            </a:r>
            <a:endParaRPr lang="en-US" sz="1000" dirty="0"/>
          </a:p>
        </p:txBody>
      </p:sp>
      <p:sp>
        <p:nvSpPr>
          <p:cNvPr id="8" name="Text 6"/>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85855" cy="3429000"/>
        </p:xfrm>
        <a:graphic>
          <a:graphicData uri="http://schemas.openxmlformats.org/drawingml/2006/table">
            <a:tbl>
              <a:tblPr/>
              <a:tblGrid>
                <a:gridCol w="822960"/>
                <a:gridCol w="731520"/>
                <a:gridCol w="3840480"/>
                <a:gridCol w="3291840"/>
              </a:tblGrid>
              <a:tr h="342900">
                <a:tc>
                  <a:txBody>
                    <a:bodyPr/>
                    <a:lstStyle/>
                    <a:p>
                      <a:pPr algn="l" indent="0" marL="0">
                        <a:buNone/>
                      </a:pPr>
                      <a:r>
                        <a:rPr lang="en-US" sz="1200" b="1" dirty="0">
                          <a:solidFill>
                            <a:srgbClr val="FFFFFF"/>
                          </a:solidFill>
                          <a:latin typeface="Noto Sans" pitchFamily="34" charset="0"/>
                          <a:ea typeface="Noto Sans" pitchFamily="34" charset="-122"/>
                          <a:cs typeface="Noto Sans" pitchFamily="34" charset="-120"/>
                        </a:rPr>
                        <a:t>Bước</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200" b="1" dirty="0">
                          <a:solidFill>
                            <a:srgbClr val="FFFFFF"/>
                          </a:solidFill>
                          <a:latin typeface="Noto Sans" pitchFamily="34" charset="0"/>
                          <a:ea typeface="Noto Sans" pitchFamily="34" charset="-122"/>
                          <a:cs typeface="Noto Sans" pitchFamily="34" charset="-120"/>
                        </a:rPr>
                        <a:t>Đỉnh</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200" b="1" dirty="0">
                          <a:solidFill>
                            <a:srgbClr val="FFFFFF"/>
                          </a:solidFill>
                          <a:latin typeface="Noto Sans" pitchFamily="34" charset="0"/>
                          <a:ea typeface="Noto Sans" pitchFamily="34" charset="-122"/>
                          <a:cs typeface="Noto Sans" pitchFamily="34" charset="-120"/>
                        </a:rPr>
                        <a:t>Thao tác</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200" b="1" dirty="0">
                          <a:solidFill>
                            <a:srgbClr val="FFFFFF"/>
                          </a:solidFill>
                          <a:latin typeface="Noto Sans" pitchFamily="34" charset="0"/>
                          <a:ea typeface="Noto Sans" pitchFamily="34" charset="-122"/>
                          <a:cs typeface="Noto Sans" pitchFamily="34" charset="-120"/>
                        </a:rPr>
                        <a:t>Mảng màu (A1 B1 A2 B2 A3 B3)</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r>
              <a:tr h="342900">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1</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Khởi tạo, thứ tự A1 B1 A2 B2 A3 B3</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 – – – – –</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2900">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2</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A1</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Gán màu 0</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0 – – – – –</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2900">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3</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B1</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Gán màu 0 (không kề A1)</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0 0 – – – –</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2900">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4</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A2</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Loại màu 0 (kề B1) → thử tiếp</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0 0 – – – –</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2900">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5</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A2</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Gán màu 1</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0 0 1 – – –</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2900">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6</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B2</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Loại màu 0 (kề A1) → thử tiếp</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0 0 1 – – –</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2900">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7</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B2</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Gán màu 1</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0 0 1 1 – –</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2900">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8</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A3</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Loại màu 0 (kề B1)</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0 0 1 1 – –</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2900">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9</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A3</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Loại màu 1 (kề B2) → hết màu, bế tắc</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0 0 1 1 – –</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4 · VÍ DỤ MINH HỌA TỪNG BƯỚC</a:t>
            </a:r>
            <a:endParaRPr lang="en-US" sz="1100" dirty="0"/>
          </a:p>
        </p:txBody>
      </p:sp>
      <p:sp>
        <p:nvSpPr>
          <p:cNvPr id="3" name="Text 1"/>
          <p:cNvSpPr/>
          <p:nvPr/>
        </p:nvSpPr>
        <p:spPr>
          <a:xfrm>
            <a:off x="502920" y="548640"/>
            <a:ext cx="8899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Quay lui — bước 10 đến 20: quay lui và hoàn tất</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Shape 3"/>
          <p:cNvSpPr/>
          <p:nvPr/>
        </p:nvSpPr>
        <p:spPr>
          <a:xfrm>
            <a:off x="9539935" y="384048"/>
            <a:ext cx="2148840" cy="420624"/>
          </a:xfrm>
          <a:prstGeom prst="roundRect">
            <a:avLst>
              <a:gd name="adj" fmla="val 17391"/>
            </a:avLst>
          </a:prstGeom>
          <a:solidFill>
            <a:srgbClr val="18181B"/>
          </a:solidFill>
          <a:ln/>
        </p:spPr>
      </p:sp>
      <p:sp>
        <p:nvSpPr>
          <p:cNvPr id="6" name="Text 4"/>
          <p:cNvSpPr/>
          <p:nvPr/>
        </p:nvSpPr>
        <p:spPr>
          <a:xfrm>
            <a:off x="9539935" y="384048"/>
            <a:ext cx="2148840" cy="420624"/>
          </a:xfrm>
          <a:prstGeom prst="rect">
            <a:avLst/>
          </a:prstGeom>
          <a:noFill/>
          <a:ln/>
        </p:spPr>
        <p:txBody>
          <a:bodyPr wrap="square" rtlCol="0" anchor="ctr"/>
          <a:lstStyle/>
          <a:p>
            <a:pPr algn="ctr" indent="0" marL="0">
              <a:buNone/>
            </a:pPr>
            <a:r>
              <a:rPr lang="en-US" sz="1100" b="1" dirty="0">
                <a:solidFill>
                  <a:srgbClr val="FFFFFF"/>
                </a:solidFill>
                <a:latin typeface="Noto Sans" pitchFamily="34" charset="0"/>
                <a:ea typeface="Noto Sans" pitchFamily="34" charset="-122"/>
                <a:cs typeface="Noto Sans" pitchFamily="34" charset="-120"/>
              </a:rPr>
              <a:t>▶ DEMO TRỰC TIẾP</a:t>
            </a:r>
            <a:endParaRPr lang="en-US" sz="1100" dirty="0"/>
          </a:p>
        </p:txBody>
      </p:sp>
      <p:sp>
        <p:nvSpPr>
          <p:cNvPr id="7" name="Text 5"/>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18 / 35</a:t>
            </a:r>
            <a:endParaRPr lang="en-US" sz="1000" dirty="0"/>
          </a:p>
        </p:txBody>
      </p:sp>
      <p:sp>
        <p:nvSpPr>
          <p:cNvPr id="8" name="Text 6"/>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85855" cy="2441448"/>
        </p:xfrm>
        <a:graphic>
          <a:graphicData uri="http://schemas.openxmlformats.org/drawingml/2006/table">
            <a:tbl>
              <a:tblPr/>
              <a:tblGrid>
                <a:gridCol w="822960"/>
                <a:gridCol w="731520"/>
                <a:gridCol w="3840480"/>
                <a:gridCol w="3291840"/>
              </a:tblGrid>
              <a:tr h="348778">
                <a:tc>
                  <a:txBody>
                    <a:bodyPr/>
                    <a:lstStyle/>
                    <a:p>
                      <a:pPr algn="l" indent="0" marL="0">
                        <a:buNone/>
                      </a:pPr>
                      <a:r>
                        <a:rPr lang="en-US" sz="1150" b="1" dirty="0">
                          <a:solidFill>
                            <a:srgbClr val="FFFFFF"/>
                          </a:solidFill>
                          <a:latin typeface="Noto Sans" pitchFamily="34" charset="0"/>
                          <a:ea typeface="Noto Sans" pitchFamily="34" charset="-122"/>
                          <a:cs typeface="Noto Sans" pitchFamily="34" charset="-120"/>
                        </a:rPr>
                        <a:t>Bước</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150" b="1" dirty="0">
                          <a:solidFill>
                            <a:srgbClr val="FFFFFF"/>
                          </a:solidFill>
                          <a:latin typeface="Noto Sans" pitchFamily="34" charset="0"/>
                          <a:ea typeface="Noto Sans" pitchFamily="34" charset="-122"/>
                          <a:cs typeface="Noto Sans" pitchFamily="34" charset="-120"/>
                        </a:rPr>
                        <a:t>Đỉnh</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150" b="1" dirty="0">
                          <a:solidFill>
                            <a:srgbClr val="FFFFFF"/>
                          </a:solidFill>
                          <a:latin typeface="Noto Sans" pitchFamily="34" charset="0"/>
                          <a:ea typeface="Noto Sans" pitchFamily="34" charset="-122"/>
                          <a:cs typeface="Noto Sans" pitchFamily="34" charset="-120"/>
                        </a:rPr>
                        <a:t>Thao tác</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150" b="1" dirty="0">
                          <a:solidFill>
                            <a:srgbClr val="FFFFFF"/>
                          </a:solidFill>
                          <a:latin typeface="Noto Sans" pitchFamily="34" charset="0"/>
                          <a:ea typeface="Noto Sans" pitchFamily="34" charset="-122"/>
                          <a:cs typeface="Noto Sans" pitchFamily="34" charset="-120"/>
                        </a:rPr>
                        <a:t>Mảng màu (A1 B1 A2 B2 A3 B3)</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r>
              <a:tr h="348778">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10</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Quay lui: bỏ B2=1 (hết màu khả thi)</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0 0 1 – – –</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8778">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11</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Quay lui: bỏ A2=1</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0 0 – – – –</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8778">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12</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Quay lui: bỏ B1=0 — gốc của bế tắc</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0 – – – – –</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8778">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13</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B1</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Gán màu 1 (đổi màu)</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0 1 – – – –</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8778">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14–19</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A2=0, B2=1, A3=0, B3=1 — không còn bế tắc</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 0 1 0 1 0 1</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8778">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20</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Hoàn tất: tô thành công, 20 bước, 6 lần cắt nhánh</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50" dirty="0">
                          <a:solidFill>
                            <a:srgbClr val="0A0A0A"/>
                          </a:solidFill>
                          <a:latin typeface="Noto Sans" pitchFamily="34" charset="0"/>
                          <a:ea typeface="Noto Sans" pitchFamily="34" charset="-122"/>
                          <a:cs typeface="Noto Sans" pitchFamily="34" charset="-120"/>
                        </a:rPr>
                        <a:t>0 1 0 1 0 1</a:t>
                      </a:r>
                      <a:endParaRPr lang="en-US" sz="11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4 · VÍ DỤ MINH HỌA TỪNG BƯỚC</a:t>
            </a:r>
            <a:endParaRPr lang="en-US" sz="1100" dirty="0"/>
          </a:p>
        </p:txBody>
      </p:sp>
      <p:sp>
        <p:nvSpPr>
          <p:cNvPr id="3" name="Text 1"/>
          <p:cNvSpPr/>
          <p:nvPr/>
        </p:nvSpPr>
        <p:spPr>
          <a:xfrm>
            <a:off x="502920" y="548640"/>
            <a:ext cx="8899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So sánh 5 thuật toán trên ví dụ chung</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Shape 3"/>
          <p:cNvSpPr/>
          <p:nvPr/>
        </p:nvSpPr>
        <p:spPr>
          <a:xfrm>
            <a:off x="9539935" y="384048"/>
            <a:ext cx="2148840" cy="420624"/>
          </a:xfrm>
          <a:prstGeom prst="roundRect">
            <a:avLst>
              <a:gd name="adj" fmla="val 17391"/>
            </a:avLst>
          </a:prstGeom>
          <a:solidFill>
            <a:srgbClr val="18181B"/>
          </a:solidFill>
          <a:ln/>
        </p:spPr>
      </p:sp>
      <p:sp>
        <p:nvSpPr>
          <p:cNvPr id="6" name="Text 4"/>
          <p:cNvSpPr/>
          <p:nvPr/>
        </p:nvSpPr>
        <p:spPr>
          <a:xfrm>
            <a:off x="9539935" y="384048"/>
            <a:ext cx="2148840" cy="420624"/>
          </a:xfrm>
          <a:prstGeom prst="rect">
            <a:avLst/>
          </a:prstGeom>
          <a:noFill/>
          <a:ln/>
        </p:spPr>
        <p:txBody>
          <a:bodyPr wrap="square" rtlCol="0" anchor="ctr"/>
          <a:lstStyle/>
          <a:p>
            <a:pPr algn="ctr" indent="0" marL="0">
              <a:buNone/>
            </a:pPr>
            <a:r>
              <a:rPr lang="en-US" sz="1100" b="1" dirty="0">
                <a:solidFill>
                  <a:srgbClr val="FFFFFF"/>
                </a:solidFill>
                <a:latin typeface="Noto Sans" pitchFamily="34" charset="0"/>
                <a:ea typeface="Noto Sans" pitchFamily="34" charset="-122"/>
                <a:cs typeface="Noto Sans" pitchFamily="34" charset="-120"/>
              </a:rPr>
              <a:t>▶ DEMO TRỰC TIẾP</a:t>
            </a:r>
            <a:endParaRPr lang="en-US" sz="1100" dirty="0"/>
          </a:p>
        </p:txBody>
      </p:sp>
      <p:sp>
        <p:nvSpPr>
          <p:cNvPr id="7" name="Text 5"/>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19 / 35</a:t>
            </a:r>
            <a:endParaRPr lang="en-US" sz="1000" dirty="0"/>
          </a:p>
        </p:txBody>
      </p:sp>
      <p:sp>
        <p:nvSpPr>
          <p:cNvPr id="8" name="Text 6"/>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85855" cy="2441448"/>
        </p:xfrm>
        <a:graphic>
          <a:graphicData uri="http://schemas.openxmlformats.org/drawingml/2006/table">
            <a:tbl>
              <a:tblPr/>
              <a:tblGrid>
                <a:gridCol w="1828800"/>
                <a:gridCol w="1188720"/>
                <a:gridCol w="1188720"/>
                <a:gridCol w="4389120"/>
              </a:tblGrid>
              <a:tr h="406908">
                <a:tc>
                  <a:txBody>
                    <a:bodyPr/>
                    <a:lstStyle/>
                    <a:p>
                      <a:pPr algn="l" indent="0" marL="0">
                        <a:buNone/>
                      </a:pPr>
                      <a:r>
                        <a:rPr lang="en-US" sz="1300" b="1" dirty="0">
                          <a:solidFill>
                            <a:srgbClr val="FFFFFF"/>
                          </a:solidFill>
                          <a:latin typeface="Noto Sans" pitchFamily="34" charset="0"/>
                          <a:ea typeface="Noto Sans" pitchFamily="34" charset="-122"/>
                          <a:cs typeface="Noto Sans" pitchFamily="34" charset="-120"/>
                        </a:rPr>
                        <a:t>Thuật toán</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300" b="1" dirty="0">
                          <a:solidFill>
                            <a:srgbClr val="FFFFFF"/>
                          </a:solidFill>
                          <a:latin typeface="Noto Sans" pitchFamily="34" charset="0"/>
                          <a:ea typeface="Noto Sans" pitchFamily="34" charset="-122"/>
                          <a:cs typeface="Noto Sans" pitchFamily="34" charset="-120"/>
                        </a:rPr>
                        <a:t>Số bước</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300" b="1" dirty="0">
                          <a:solidFill>
                            <a:srgbClr val="FFFFFF"/>
                          </a:solidFill>
                          <a:latin typeface="Noto Sans" pitchFamily="34" charset="0"/>
                          <a:ea typeface="Noto Sans" pitchFamily="34" charset="-122"/>
                          <a:cs typeface="Noto Sans" pitchFamily="34" charset="-120"/>
                        </a:rPr>
                        <a:t>Phép toán</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300" b="1" dirty="0">
                          <a:solidFill>
                            <a:srgbClr val="FFFFFF"/>
                          </a:solidFill>
                          <a:latin typeface="Noto Sans" pitchFamily="34" charset="0"/>
                          <a:ea typeface="Noto Sans" pitchFamily="34" charset="-122"/>
                          <a:cs typeface="Noto Sans" pitchFamily="34" charset="-120"/>
                        </a:rPr>
                        <a:t>Kết quả</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r>
              <a:tr h="406908">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Greedy</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7</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5</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"Chưa tìm được" — hết màu ở A3</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406908">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Welsh–Powell</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7</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5</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Giống Greedy — mọi đỉnh cùng bậc 2</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406908">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DSATUR</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14</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6</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Tô thành công: [0,1,0,1,0,1]</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406908">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Quay lui</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20</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21</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Tô thành công: [0,1,0,1,0,1]</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406908">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Vét cạn</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69</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67</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Tô thành công: nghiệm đầu tiên ở lá thứ 22</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4 · VÍ DỤ MINH HỌA TỪNG BƯỚC</a:t>
            </a:r>
            <a:endParaRPr lang="en-US" sz="1100" dirty="0"/>
          </a:p>
        </p:txBody>
      </p:sp>
      <p:sp>
        <p:nvSpPr>
          <p:cNvPr id="3" name="Text 1"/>
          <p:cNvSpPr/>
          <p:nvPr/>
        </p:nvSpPr>
        <p:spPr>
          <a:xfrm>
            <a:off x="502920" y="548640"/>
            <a:ext cx="8899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Chế độ "Tìm sắc số χ(G)" trên ví dụ chung</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Shape 3"/>
          <p:cNvSpPr/>
          <p:nvPr/>
        </p:nvSpPr>
        <p:spPr>
          <a:xfrm>
            <a:off x="9539935" y="384048"/>
            <a:ext cx="2148840" cy="420624"/>
          </a:xfrm>
          <a:prstGeom prst="roundRect">
            <a:avLst>
              <a:gd name="adj" fmla="val 17391"/>
            </a:avLst>
          </a:prstGeom>
          <a:solidFill>
            <a:srgbClr val="18181B"/>
          </a:solidFill>
          <a:ln/>
        </p:spPr>
      </p:sp>
      <p:sp>
        <p:nvSpPr>
          <p:cNvPr id="6" name="Text 4"/>
          <p:cNvSpPr/>
          <p:nvPr/>
        </p:nvSpPr>
        <p:spPr>
          <a:xfrm>
            <a:off x="9539935" y="384048"/>
            <a:ext cx="2148840" cy="420624"/>
          </a:xfrm>
          <a:prstGeom prst="rect">
            <a:avLst/>
          </a:prstGeom>
          <a:noFill/>
          <a:ln/>
        </p:spPr>
        <p:txBody>
          <a:bodyPr wrap="square" rtlCol="0" anchor="ctr"/>
          <a:lstStyle/>
          <a:p>
            <a:pPr algn="ctr" indent="0" marL="0">
              <a:buNone/>
            </a:pPr>
            <a:r>
              <a:rPr lang="en-US" sz="1100" b="1" dirty="0">
                <a:solidFill>
                  <a:srgbClr val="FFFFFF"/>
                </a:solidFill>
                <a:latin typeface="Noto Sans" pitchFamily="34" charset="0"/>
                <a:ea typeface="Noto Sans" pitchFamily="34" charset="-122"/>
                <a:cs typeface="Noto Sans" pitchFamily="34" charset="-120"/>
              </a:rPr>
              <a:t>▶ DEMO TRỰC TIẾP</a:t>
            </a:r>
            <a:endParaRPr lang="en-US" sz="1100" dirty="0"/>
          </a:p>
        </p:txBody>
      </p:sp>
      <p:sp>
        <p:nvSpPr>
          <p:cNvPr id="7" name="Text 5"/>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20 / 35</a:t>
            </a:r>
            <a:endParaRPr lang="en-US" sz="1000" dirty="0"/>
          </a:p>
        </p:txBody>
      </p:sp>
      <p:sp>
        <p:nvSpPr>
          <p:cNvPr id="8" name="Text 6"/>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85855" cy="2441448"/>
        </p:xfrm>
        <a:graphic>
          <a:graphicData uri="http://schemas.openxmlformats.org/drawingml/2006/table">
            <a:tbl>
              <a:tblPr/>
              <a:tblGrid>
                <a:gridCol w="1920240"/>
                <a:gridCol w="1554480"/>
                <a:gridCol w="1280160"/>
                <a:gridCol w="3291840"/>
              </a:tblGrid>
              <a:tr h="406908">
                <a:tc>
                  <a:txBody>
                    <a:bodyPr/>
                    <a:lstStyle/>
                    <a:p>
                      <a:pPr algn="l" indent="0" marL="0">
                        <a:buNone/>
                      </a:pPr>
                      <a:r>
                        <a:rPr lang="en-US" sz="1300" b="1" dirty="0">
                          <a:solidFill>
                            <a:srgbClr val="FFFFFF"/>
                          </a:solidFill>
                          <a:latin typeface="Noto Sans" pitchFamily="34" charset="0"/>
                          <a:ea typeface="Noto Sans" pitchFamily="34" charset="-122"/>
                          <a:cs typeface="Noto Sans" pitchFamily="34" charset="-120"/>
                        </a:rPr>
                        <a:t>Thuật toán</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300" b="1" dirty="0">
                          <a:solidFill>
                            <a:srgbClr val="FFFFFF"/>
                          </a:solidFill>
                          <a:latin typeface="Noto Sans" pitchFamily="34" charset="0"/>
                          <a:ea typeface="Noto Sans" pitchFamily="34" charset="-122"/>
                          <a:cs typeface="Noto Sans" pitchFamily="34" charset="-120"/>
                        </a:rPr>
                        <a:t>Số màu dùng</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300" b="1" dirty="0">
                          <a:solidFill>
                            <a:srgbClr val="FFFFFF"/>
                          </a:solidFill>
                          <a:latin typeface="Noto Sans" pitchFamily="34" charset="0"/>
                          <a:ea typeface="Noto Sans" pitchFamily="34" charset="-122"/>
                          <a:cs typeface="Noto Sans" pitchFamily="34" charset="-120"/>
                        </a:rPr>
                        <a:t>Số bước</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300" b="1" dirty="0">
                          <a:solidFill>
                            <a:srgbClr val="FFFFFF"/>
                          </a:solidFill>
                          <a:latin typeface="Noto Sans" pitchFamily="34" charset="0"/>
                          <a:ea typeface="Noto Sans" pitchFamily="34" charset="-122"/>
                          <a:cs typeface="Noto Sans" pitchFamily="34" charset="-120"/>
                        </a:rPr>
                        <a:t>Kết quả</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r>
              <a:tr h="406908">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Greedy</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3</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8</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Hợp lệ nhưng chưa tối ưu</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406908">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Welsh–Powell</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3</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8</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Hợp lệ nhưng chưa tối ưu</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406908">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DSATUR</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2</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14</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Tối ưu</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406908">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Quay lui</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2</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22</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χ = 2, chính xác</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406908">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Vét cạn</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2</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78</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χ = 2, chính xác</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DẠO QUA GIAO DIỆN</a:t>
            </a:r>
            <a:endParaRPr lang="en-US" sz="1100" dirty="0"/>
          </a:p>
        </p:txBody>
      </p:sp>
      <p:sp>
        <p:nvSpPr>
          <p:cNvPr id="3" name="Text 1"/>
          <p:cNvSpPr/>
          <p:nvPr/>
        </p:nvSpPr>
        <p:spPr>
          <a:xfrm>
            <a:off x="502920" y="548640"/>
            <a:ext cx="8899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Giao diện Player (1/2) — điều hướng và nhập liệu</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Shape 3"/>
          <p:cNvSpPr/>
          <p:nvPr/>
        </p:nvSpPr>
        <p:spPr>
          <a:xfrm>
            <a:off x="9539935" y="384048"/>
            <a:ext cx="2148840" cy="420624"/>
          </a:xfrm>
          <a:prstGeom prst="roundRect">
            <a:avLst>
              <a:gd name="adj" fmla="val 17391"/>
            </a:avLst>
          </a:prstGeom>
          <a:solidFill>
            <a:srgbClr val="18181B"/>
          </a:solidFill>
          <a:ln/>
        </p:spPr>
      </p:sp>
      <p:sp>
        <p:nvSpPr>
          <p:cNvPr id="6" name="Text 4"/>
          <p:cNvSpPr/>
          <p:nvPr/>
        </p:nvSpPr>
        <p:spPr>
          <a:xfrm>
            <a:off x="9539935" y="384048"/>
            <a:ext cx="2148840" cy="420624"/>
          </a:xfrm>
          <a:prstGeom prst="rect">
            <a:avLst/>
          </a:prstGeom>
          <a:noFill/>
          <a:ln/>
        </p:spPr>
        <p:txBody>
          <a:bodyPr wrap="square" rtlCol="0" anchor="ctr"/>
          <a:lstStyle/>
          <a:p>
            <a:pPr algn="ctr" indent="0" marL="0">
              <a:buNone/>
            </a:pPr>
            <a:r>
              <a:rPr lang="en-US" sz="1100" b="1" dirty="0">
                <a:solidFill>
                  <a:srgbClr val="FFFFFF"/>
                </a:solidFill>
                <a:latin typeface="Noto Sans" pitchFamily="34" charset="0"/>
                <a:ea typeface="Noto Sans" pitchFamily="34" charset="-122"/>
                <a:cs typeface="Noto Sans" pitchFamily="34" charset="-120"/>
              </a:rPr>
              <a:t>▶ DEMO TRỰC TIẾP</a:t>
            </a:r>
            <a:endParaRPr lang="en-US" sz="1100" dirty="0"/>
          </a:p>
        </p:txBody>
      </p:sp>
      <p:sp>
        <p:nvSpPr>
          <p:cNvPr id="7" name="Text 5"/>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21 / 35</a:t>
            </a:r>
            <a:endParaRPr lang="en-US" sz="1000" dirty="0"/>
          </a:p>
        </p:txBody>
      </p:sp>
      <p:sp>
        <p:nvSpPr>
          <p:cNvPr id="8" name="Text 6"/>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9" name="Text 7"/>
          <p:cNvSpPr/>
          <p:nvPr/>
        </p:nvSpPr>
        <p:spPr>
          <a:xfrm>
            <a:off x="502920" y="1417320"/>
            <a:ext cx="11185855" cy="1700784"/>
          </a:xfrm>
          <a:prstGeom prst="rect">
            <a:avLst/>
          </a:prstGeom>
          <a:noFill/>
          <a:ln/>
        </p:spPr>
        <p:txBody>
          <a:bodyPr wrap="square" rtlCol="0" anchor="t"/>
          <a:lstStyle/>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Thanh bên: tìm bài theo chương sách, theo kỹ thuật thiết kế, hoặc theo tên bài toán (Ctrl+K).</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Nút chuyển nhanh giữa 5 cách giải của cùng bài toán: Greedy, Welsh–Powell, DSATUR, Quay lui, Vét cạn.</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Trình nhập dữ liệu: JSON, bộ sinh ngẫu nhiên theo seed, đồ thị mẫu kinh điển (Vương miện, Kₙ, Cₙ, K(p,q), Petersen, Grötzsch).</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Khung đồ thị: màu từng đỉnh ghi bằng số trên nhãn, đỉnh đang xét được làm nổi bật.</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DẠO QUA GIAO DIỆN</a:t>
            </a:r>
            <a:endParaRPr lang="en-US" sz="1100" dirty="0"/>
          </a:p>
        </p:txBody>
      </p:sp>
      <p:sp>
        <p:nvSpPr>
          <p:cNvPr id="3" name="Text 1"/>
          <p:cNvSpPr/>
          <p:nvPr/>
        </p:nvSpPr>
        <p:spPr>
          <a:xfrm>
            <a:off x="502920" y="548640"/>
            <a:ext cx="8899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Giao diện Player (2/2) — điều khiển và 2 cách xem</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Shape 3"/>
          <p:cNvSpPr/>
          <p:nvPr/>
        </p:nvSpPr>
        <p:spPr>
          <a:xfrm>
            <a:off x="9539935" y="384048"/>
            <a:ext cx="2148840" cy="420624"/>
          </a:xfrm>
          <a:prstGeom prst="roundRect">
            <a:avLst>
              <a:gd name="adj" fmla="val 17391"/>
            </a:avLst>
          </a:prstGeom>
          <a:solidFill>
            <a:srgbClr val="18181B"/>
          </a:solidFill>
          <a:ln/>
        </p:spPr>
      </p:sp>
      <p:sp>
        <p:nvSpPr>
          <p:cNvPr id="6" name="Text 4"/>
          <p:cNvSpPr/>
          <p:nvPr/>
        </p:nvSpPr>
        <p:spPr>
          <a:xfrm>
            <a:off x="9539935" y="384048"/>
            <a:ext cx="2148840" cy="420624"/>
          </a:xfrm>
          <a:prstGeom prst="rect">
            <a:avLst/>
          </a:prstGeom>
          <a:noFill/>
          <a:ln/>
        </p:spPr>
        <p:txBody>
          <a:bodyPr wrap="square" rtlCol="0" anchor="ctr"/>
          <a:lstStyle/>
          <a:p>
            <a:pPr algn="ctr" indent="0" marL="0">
              <a:buNone/>
            </a:pPr>
            <a:r>
              <a:rPr lang="en-US" sz="1100" b="1" dirty="0">
                <a:solidFill>
                  <a:srgbClr val="FFFFFF"/>
                </a:solidFill>
                <a:latin typeface="Noto Sans" pitchFamily="34" charset="0"/>
                <a:ea typeface="Noto Sans" pitchFamily="34" charset="-122"/>
                <a:cs typeface="Noto Sans" pitchFamily="34" charset="-120"/>
              </a:rPr>
              <a:t>▶ DEMO TRỰC TIẾP</a:t>
            </a:r>
            <a:endParaRPr lang="en-US" sz="1100" dirty="0"/>
          </a:p>
        </p:txBody>
      </p:sp>
      <p:sp>
        <p:nvSpPr>
          <p:cNvPr id="7" name="Text 5"/>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22 / 35</a:t>
            </a:r>
            <a:endParaRPr lang="en-US" sz="1000" dirty="0"/>
          </a:p>
        </p:txBody>
      </p:sp>
      <p:sp>
        <p:nvSpPr>
          <p:cNvPr id="8" name="Text 6"/>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9" name="Text 7"/>
          <p:cNvSpPr/>
          <p:nvPr/>
        </p:nvSpPr>
        <p:spPr>
          <a:xfrm>
            <a:off x="502920" y="1417320"/>
            <a:ext cx="11185855" cy="2103120"/>
          </a:xfrm>
          <a:prstGeom prst="rect">
            <a:avLst/>
          </a:prstGeom>
          <a:noFill/>
          <a:ln/>
        </p:spPr>
        <p:txBody>
          <a:bodyPr wrap="square" rtlCol="0" anchor="t"/>
          <a:lstStyle/>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Khung mã giả: dòng đang chạy được tô đậm.</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Lời giải thích tiếng Việt cho từng bước.</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Thanh điều khiển: tiến / lùi / tua / tốc độ, có phím tắt.</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Nút chuyển view "Đồ thị" ↔ "Cây trạng thái" — cây đánh dấu riêng các nhánh bị cắt.</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Toàn giao diện chỉ dùng trắng/đen/xám — trạng thái phân biệt bằng độ đậm và viền, không phụ thuộc màu sắc.</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DẠO QUA GIAO DIỆN</a:t>
            </a:r>
            <a:endParaRPr lang="en-US" sz="1100" dirty="0"/>
          </a:p>
        </p:txBody>
      </p:sp>
      <p:sp>
        <p:nvSpPr>
          <p:cNvPr id="3" name="Text 1"/>
          <p:cNvSpPr/>
          <p:nvPr/>
        </p:nvSpPr>
        <p:spPr>
          <a:xfrm>
            <a:off x="502920" y="548640"/>
            <a:ext cx="8899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Dữ liệu không hợp lệ bị từ chối ngay khi nhập</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Shape 3"/>
          <p:cNvSpPr/>
          <p:nvPr/>
        </p:nvSpPr>
        <p:spPr>
          <a:xfrm>
            <a:off x="9539935" y="384048"/>
            <a:ext cx="2148840" cy="420624"/>
          </a:xfrm>
          <a:prstGeom prst="roundRect">
            <a:avLst>
              <a:gd name="adj" fmla="val 17391"/>
            </a:avLst>
          </a:prstGeom>
          <a:solidFill>
            <a:srgbClr val="18181B"/>
          </a:solidFill>
          <a:ln/>
        </p:spPr>
      </p:sp>
      <p:sp>
        <p:nvSpPr>
          <p:cNvPr id="6" name="Text 4"/>
          <p:cNvSpPr/>
          <p:nvPr/>
        </p:nvSpPr>
        <p:spPr>
          <a:xfrm>
            <a:off x="9539935" y="384048"/>
            <a:ext cx="2148840" cy="420624"/>
          </a:xfrm>
          <a:prstGeom prst="rect">
            <a:avLst/>
          </a:prstGeom>
          <a:noFill/>
          <a:ln/>
        </p:spPr>
        <p:txBody>
          <a:bodyPr wrap="square" rtlCol="0" anchor="ctr"/>
          <a:lstStyle/>
          <a:p>
            <a:pPr algn="ctr" indent="0" marL="0">
              <a:buNone/>
            </a:pPr>
            <a:r>
              <a:rPr lang="en-US" sz="1100" b="1" dirty="0">
                <a:solidFill>
                  <a:srgbClr val="FFFFFF"/>
                </a:solidFill>
                <a:latin typeface="Noto Sans" pitchFamily="34" charset="0"/>
                <a:ea typeface="Noto Sans" pitchFamily="34" charset="-122"/>
                <a:cs typeface="Noto Sans" pitchFamily="34" charset="-120"/>
              </a:rPr>
              <a:t>▶ DEMO TRỰC TIẾP</a:t>
            </a:r>
            <a:endParaRPr lang="en-US" sz="1100" dirty="0"/>
          </a:p>
        </p:txBody>
      </p:sp>
      <p:sp>
        <p:nvSpPr>
          <p:cNvPr id="7" name="Text 5"/>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23 / 35</a:t>
            </a:r>
            <a:endParaRPr lang="en-US" sz="1000" dirty="0"/>
          </a:p>
        </p:txBody>
      </p:sp>
      <p:sp>
        <p:nvSpPr>
          <p:cNvPr id="8" name="Text 6"/>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9" name="Text 7"/>
          <p:cNvSpPr/>
          <p:nvPr/>
        </p:nvSpPr>
        <p:spPr>
          <a:xfrm>
            <a:off x="502920" y="1417320"/>
            <a:ext cx="6309360" cy="1517904"/>
          </a:xfrm>
          <a:prstGeom prst="rect">
            <a:avLst/>
          </a:prstGeom>
          <a:noFill/>
          <a:ln/>
        </p:spPr>
        <p:txBody>
          <a:bodyPr wrap="square" rtlCol="0" anchor="t"/>
          <a:lstStyle/>
          <a:p>
            <a:pPr marL="228600" indent="-228600">
              <a:lnSpc>
                <a:spcPts val="2200"/>
              </a:lnSpc>
              <a:spcAft>
                <a:spcPts val="1000"/>
              </a:spcAft>
              <a:buSzPct val="100000"/>
              <a:buChar char="•"/>
            </a:pPr>
            <a:r>
              <a:rPr lang="en-US" sz="1600" dirty="0">
                <a:solidFill>
                  <a:srgbClr val="0A0A0A"/>
                </a:solidFill>
                <a:latin typeface="Noto Sans" pitchFamily="34" charset="0"/>
                <a:ea typeface="Noto Sans" pitchFamily="34" charset="-122"/>
                <a:cs typeface="Noto Sans" pitchFamily="34" charset="-120"/>
              </a:rPr>
              <a:t>Validation chạy ngay khi dán JSON, không cần bấm nút áp dụng.</a:t>
            </a:r>
            <a:endParaRPr lang="en-US" sz="1600" dirty="0"/>
          </a:p>
          <a:p>
            <a:pPr marL="228600" indent="-228600">
              <a:lnSpc>
                <a:spcPts val="2200"/>
              </a:lnSpc>
              <a:spcAft>
                <a:spcPts val="1000"/>
              </a:spcAft>
              <a:buSzPct val="100000"/>
              <a:buChar char="•"/>
            </a:pPr>
            <a:r>
              <a:rPr lang="en-US" sz="1600" dirty="0">
                <a:solidFill>
                  <a:srgbClr val="0A0A0A"/>
                </a:solidFill>
                <a:latin typeface="Noto Sans" pitchFamily="34" charset="0"/>
                <a:ea typeface="Noto Sans" pitchFamily="34" charset="-122"/>
                <a:cs typeface="Noto Sans" pitchFamily="34" charset="-120"/>
              </a:rPr>
              <a:t>colors = 0 vi phạm ràng buộc 1 ≤ k ≤ 10 → app báo lỗi, không cho chạy.</a:t>
            </a:r>
            <a:endParaRPr lang="en-US" sz="1600" dirty="0"/>
          </a:p>
          <a:p>
            <a:pPr marL="228600" indent="-228600">
              <a:lnSpc>
                <a:spcPts val="2200"/>
              </a:lnSpc>
              <a:spcAft>
                <a:spcPts val="1000"/>
              </a:spcAft>
              <a:buSzPct val="100000"/>
              <a:buChar char="•"/>
            </a:pPr>
            <a:r>
              <a:rPr lang="en-US" sz="1600" dirty="0">
                <a:solidFill>
                  <a:srgbClr val="0A0A0A"/>
                </a:solidFill>
                <a:latin typeface="Noto Sans" pitchFamily="34" charset="0"/>
                <a:ea typeface="Noto Sans" pitchFamily="34" charset="-122"/>
                <a:cs typeface="Noto Sans" pitchFamily="34" charset="-120"/>
              </a:rPr>
              <a:t>Mục đích: tránh crash hoặc kết quả vô nghĩa khi người dùng nhập sai.</a:t>
            </a:r>
            <a:endParaRPr lang="en-US" sz="1600" dirty="0"/>
          </a:p>
        </p:txBody>
      </p:sp>
      <p:sp>
        <p:nvSpPr>
          <p:cNvPr id="10" name="Text 8"/>
          <p:cNvSpPr/>
          <p:nvPr/>
        </p:nvSpPr>
        <p:spPr>
          <a:xfrm>
            <a:off x="7132320" y="1417320"/>
            <a:ext cx="4556455" cy="274320"/>
          </a:xfrm>
          <a:prstGeom prst="rect">
            <a:avLst/>
          </a:prstGeom>
          <a:noFill/>
          <a:ln/>
        </p:spPr>
        <p:txBody>
          <a:bodyPr wrap="square" rtlCol="0" anchor="ctr"/>
          <a:lstStyle/>
          <a:p>
            <a:pPr indent="0" marL="0">
              <a:buNone/>
            </a:pPr>
            <a:r>
              <a:rPr lang="en-US" sz="1200" b="1" dirty="0">
                <a:solidFill>
                  <a:srgbClr val="52525B"/>
                </a:solidFill>
                <a:latin typeface="Noto Sans" pitchFamily="34" charset="0"/>
                <a:ea typeface="Noto Sans" pitchFamily="34" charset="-122"/>
                <a:cs typeface="Noto Sans" pitchFamily="34" charset="-120"/>
              </a:rPr>
              <a:t>JSON không hợp lệ</a:t>
            </a:r>
            <a:endParaRPr lang="en-US" sz="1200" dirty="0"/>
          </a:p>
        </p:txBody>
      </p:sp>
      <p:sp>
        <p:nvSpPr>
          <p:cNvPr id="11" name="Shape 9"/>
          <p:cNvSpPr/>
          <p:nvPr/>
        </p:nvSpPr>
        <p:spPr>
          <a:xfrm>
            <a:off x="7132320" y="1783080"/>
            <a:ext cx="4556455" cy="1554480"/>
          </a:xfrm>
          <a:prstGeom prst="roundRect">
            <a:avLst>
              <a:gd name="adj" fmla="val 3529"/>
            </a:avLst>
          </a:prstGeom>
          <a:solidFill>
            <a:srgbClr val="F4F4F5"/>
          </a:solidFill>
          <a:ln w="9525">
            <a:solidFill>
              <a:srgbClr val="E4E4E7"/>
            </a:solidFill>
            <a:prstDash val="solid"/>
          </a:ln>
        </p:spPr>
      </p:sp>
      <p:sp>
        <p:nvSpPr>
          <p:cNvPr id="12" name="Text 10"/>
          <p:cNvSpPr/>
          <p:nvPr/>
        </p:nvSpPr>
        <p:spPr>
          <a:xfrm>
            <a:off x="7333488" y="1911096"/>
            <a:ext cx="4154119" cy="1298448"/>
          </a:xfrm>
          <a:prstGeom prst="rect">
            <a:avLst/>
          </a:prstGeom>
          <a:noFill/>
          <a:ln/>
        </p:spPr>
        <p:txBody>
          <a:bodyPr wrap="square" rtlCol="0" anchor="t"/>
          <a:lstStyle/>
          <a:p>
            <a:pPr indent="0" marL="0">
              <a:lnSpc>
                <a:spcPts val="1900"/>
              </a:lnSpc>
              <a:buNone/>
            </a:pPr>
            <a:r>
              <a:rPr lang="en-US" sz="1300" dirty="0">
                <a:solidFill>
                  <a:srgbClr val="0A0A0A"/>
                </a:solidFill>
                <a:latin typeface="Noto Sans Mono" pitchFamily="34" charset="0"/>
                <a:ea typeface="Noto Sans Mono" pitchFamily="34" charset="-122"/>
                <a:cs typeface="Noto Sans Mono" pitchFamily="34" charset="-120"/>
              </a:rPr>
              <a:t>{</a:t>
            </a:r>
            <a:endParaRPr lang="en-US" sz="1300" dirty="0"/>
          </a:p>
          <a:p>
            <a:pPr indent="0" marL="0">
              <a:lnSpc>
                <a:spcPts val="1900"/>
              </a:lnSpc>
              <a:buNone/>
            </a:pPr>
            <a:r>
              <a:rPr lang="en-US" sz="1300" dirty="0">
                <a:solidFill>
                  <a:srgbClr val="0A0A0A"/>
                </a:solidFill>
                <a:latin typeface="Noto Sans Mono" pitchFamily="34" charset="0"/>
                <a:ea typeface="Noto Sans Mono" pitchFamily="34" charset="-122"/>
                <a:cs typeface="Noto Sans Mono" pitchFamily="34" charset="-120"/>
              </a:rPr>
              <a:t>  "nodes": ["A"],</a:t>
            </a:r>
            <a:endParaRPr lang="en-US" sz="1300" dirty="0"/>
          </a:p>
          <a:p>
            <a:pPr indent="0" marL="0">
              <a:lnSpc>
                <a:spcPts val="1900"/>
              </a:lnSpc>
              <a:buNone/>
            </a:pPr>
            <a:r>
              <a:rPr lang="en-US" sz="1300" dirty="0">
                <a:solidFill>
                  <a:srgbClr val="0A0A0A"/>
                </a:solidFill>
                <a:latin typeface="Noto Sans Mono" pitchFamily="34" charset="0"/>
                <a:ea typeface="Noto Sans Mono" pitchFamily="34" charset="-122"/>
                <a:cs typeface="Noto Sans Mono" pitchFamily="34" charset="-120"/>
              </a:rPr>
              <a:t>  "edges": [],</a:t>
            </a:r>
            <a:endParaRPr lang="en-US" sz="1300" dirty="0"/>
          </a:p>
          <a:p>
            <a:pPr indent="0" marL="0">
              <a:lnSpc>
                <a:spcPts val="1900"/>
              </a:lnSpc>
              <a:buNone/>
            </a:pPr>
            <a:r>
              <a:rPr lang="en-US" sz="1300" dirty="0">
                <a:solidFill>
                  <a:srgbClr val="0A0A0A"/>
                </a:solidFill>
                <a:latin typeface="Noto Sans Mono" pitchFamily="34" charset="0"/>
                <a:ea typeface="Noto Sans Mono" pitchFamily="34" charset="-122"/>
                <a:cs typeface="Noto Sans Mono" pitchFamily="34" charset="-120"/>
              </a:rPr>
              <a:t>  "colors": 0</a:t>
            </a:r>
            <a:endParaRPr lang="en-US" sz="1300" dirty="0"/>
          </a:p>
          <a:p>
            <a:pPr indent="0" marL="0">
              <a:lnSpc>
                <a:spcPts val="1900"/>
              </a:lnSpc>
              <a:buNone/>
            </a:pPr>
            <a:r>
              <a:rPr lang="en-US" sz="1300" dirty="0">
                <a:solidFill>
                  <a:srgbClr val="0A0A0A"/>
                </a:solidFill>
                <a:latin typeface="Noto Sans Mono" pitchFamily="34" charset="0"/>
                <a:ea typeface="Noto Sans Mono" pitchFamily="34" charset="-122"/>
                <a:cs typeface="Noto Sans Mono" pitchFamily="34" charset="-120"/>
              </a:rPr>
              <a: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DẠO QUA GIAO DIỆN</a:t>
            </a:r>
            <a:endParaRPr lang="en-US" sz="1100" dirty="0"/>
          </a:p>
        </p:txBody>
      </p:sp>
      <p:sp>
        <p:nvSpPr>
          <p:cNvPr id="3" name="Text 1"/>
          <p:cNvSpPr/>
          <p:nvPr/>
        </p:nvSpPr>
        <p:spPr>
          <a:xfrm>
            <a:off x="502920" y="548640"/>
            <a:ext cx="8899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Trang Testcase — 22 ca, xuất CSV/JSON</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Shape 3"/>
          <p:cNvSpPr/>
          <p:nvPr/>
        </p:nvSpPr>
        <p:spPr>
          <a:xfrm>
            <a:off x="9539935" y="384048"/>
            <a:ext cx="2148840" cy="420624"/>
          </a:xfrm>
          <a:prstGeom prst="roundRect">
            <a:avLst>
              <a:gd name="adj" fmla="val 17391"/>
            </a:avLst>
          </a:prstGeom>
          <a:solidFill>
            <a:srgbClr val="18181B"/>
          </a:solidFill>
          <a:ln/>
        </p:spPr>
      </p:sp>
      <p:sp>
        <p:nvSpPr>
          <p:cNvPr id="6" name="Text 4"/>
          <p:cNvSpPr/>
          <p:nvPr/>
        </p:nvSpPr>
        <p:spPr>
          <a:xfrm>
            <a:off x="9539935" y="384048"/>
            <a:ext cx="2148840" cy="420624"/>
          </a:xfrm>
          <a:prstGeom prst="rect">
            <a:avLst/>
          </a:prstGeom>
          <a:noFill/>
          <a:ln/>
        </p:spPr>
        <p:txBody>
          <a:bodyPr wrap="square" rtlCol="0" anchor="ctr"/>
          <a:lstStyle/>
          <a:p>
            <a:pPr algn="ctr" indent="0" marL="0">
              <a:buNone/>
            </a:pPr>
            <a:r>
              <a:rPr lang="en-US" sz="1100" b="1" dirty="0">
                <a:solidFill>
                  <a:srgbClr val="FFFFFF"/>
                </a:solidFill>
                <a:latin typeface="Noto Sans" pitchFamily="34" charset="0"/>
                <a:ea typeface="Noto Sans" pitchFamily="34" charset="-122"/>
                <a:cs typeface="Noto Sans" pitchFamily="34" charset="-120"/>
              </a:rPr>
              <a:t>▶ DEMO TRỰC TIẾP</a:t>
            </a:r>
            <a:endParaRPr lang="en-US" sz="1100" dirty="0"/>
          </a:p>
        </p:txBody>
      </p:sp>
      <p:sp>
        <p:nvSpPr>
          <p:cNvPr id="7" name="Text 5"/>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24 / 35</a:t>
            </a:r>
            <a:endParaRPr lang="en-US" sz="1000" dirty="0"/>
          </a:p>
        </p:txBody>
      </p:sp>
      <p:sp>
        <p:nvSpPr>
          <p:cNvPr id="8" name="Text 6"/>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9" name="Text 7"/>
          <p:cNvSpPr/>
          <p:nvPr/>
        </p:nvSpPr>
        <p:spPr>
          <a:xfrm>
            <a:off x="502920" y="1417320"/>
            <a:ext cx="11185855" cy="1700784"/>
          </a:xfrm>
          <a:prstGeom prst="rect">
            <a:avLst/>
          </a:prstGeom>
          <a:noFill/>
          <a:ln/>
        </p:spPr>
        <p:txBody>
          <a:bodyPr wrap="square" rtlCol="0" anchor="t"/>
          <a:lstStyle/>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22 testcase, chia 6 nhóm: thông thường, biên, nhỏ, lớn, đặc biệt, không hợp lệ.</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Chạy toàn bộ bằng một nút, kết quả "Đạt 22/22".</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Mỗi nhánh thuật toán có ít nhất 1 testcase phủ (có nghiệm, vô nghiệm, bế tắc heuristic, χ đã biết, vượt giới hạn…).</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Xuất kết quả CSV/JSON để đưa trực tiếp vào report.</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DẠO QUA GIAO DIỆN</a:t>
            </a:r>
            <a:endParaRPr lang="en-US" sz="1100" dirty="0"/>
          </a:p>
        </p:txBody>
      </p:sp>
      <p:sp>
        <p:nvSpPr>
          <p:cNvPr id="3" name="Text 1"/>
          <p:cNvSpPr/>
          <p:nvPr/>
        </p:nvSpPr>
        <p:spPr>
          <a:xfrm>
            <a:off x="502920" y="548640"/>
            <a:ext cx="8899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Đồ thị lớn và giới hạn an toàn của thuật toán chính xác</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Shape 3"/>
          <p:cNvSpPr/>
          <p:nvPr/>
        </p:nvSpPr>
        <p:spPr>
          <a:xfrm>
            <a:off x="9539935" y="384048"/>
            <a:ext cx="2148840" cy="420624"/>
          </a:xfrm>
          <a:prstGeom prst="roundRect">
            <a:avLst>
              <a:gd name="adj" fmla="val 17391"/>
            </a:avLst>
          </a:prstGeom>
          <a:solidFill>
            <a:srgbClr val="18181B"/>
          </a:solidFill>
          <a:ln/>
        </p:spPr>
      </p:sp>
      <p:sp>
        <p:nvSpPr>
          <p:cNvPr id="6" name="Text 4"/>
          <p:cNvSpPr/>
          <p:nvPr/>
        </p:nvSpPr>
        <p:spPr>
          <a:xfrm>
            <a:off x="9539935" y="384048"/>
            <a:ext cx="2148840" cy="420624"/>
          </a:xfrm>
          <a:prstGeom prst="rect">
            <a:avLst/>
          </a:prstGeom>
          <a:noFill/>
          <a:ln/>
        </p:spPr>
        <p:txBody>
          <a:bodyPr wrap="square" rtlCol="0" anchor="ctr"/>
          <a:lstStyle/>
          <a:p>
            <a:pPr algn="ctr" indent="0" marL="0">
              <a:buNone/>
            </a:pPr>
            <a:r>
              <a:rPr lang="en-US" sz="1100" b="1" dirty="0">
                <a:solidFill>
                  <a:srgbClr val="FFFFFF"/>
                </a:solidFill>
                <a:latin typeface="Noto Sans" pitchFamily="34" charset="0"/>
                <a:ea typeface="Noto Sans" pitchFamily="34" charset="-122"/>
                <a:cs typeface="Noto Sans" pitchFamily="34" charset="-120"/>
              </a:rPr>
              <a:t>▶ DEMO TRỰC TIẾP</a:t>
            </a:r>
            <a:endParaRPr lang="en-US" sz="1100" dirty="0"/>
          </a:p>
        </p:txBody>
      </p:sp>
      <p:sp>
        <p:nvSpPr>
          <p:cNvPr id="7" name="Text 5"/>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25 / 35</a:t>
            </a:r>
            <a:endParaRPr lang="en-US" sz="1000" dirty="0"/>
          </a:p>
        </p:txBody>
      </p:sp>
      <p:sp>
        <p:nvSpPr>
          <p:cNvPr id="8" name="Text 6"/>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9" name="Text 7"/>
          <p:cNvSpPr/>
          <p:nvPr/>
        </p:nvSpPr>
        <p:spPr>
          <a:xfrm>
            <a:off x="502920" y="1417320"/>
            <a:ext cx="6309360" cy="1517904"/>
          </a:xfrm>
          <a:prstGeom prst="rect">
            <a:avLst/>
          </a:prstGeom>
          <a:noFill/>
          <a:ln/>
        </p:spPr>
        <p:txBody>
          <a:bodyPr wrap="square" rtlCol="0" anchor="t"/>
          <a:lstStyle/>
          <a:p>
            <a:pPr marL="228600" indent="-228600">
              <a:lnSpc>
                <a:spcPts val="2200"/>
              </a:lnSpc>
              <a:spcAft>
                <a:spcPts val="1000"/>
              </a:spcAft>
              <a:buSzPct val="100000"/>
              <a:buChar char="•"/>
            </a:pPr>
            <a:r>
              <a:rPr lang="en-US" sz="1600" dirty="0">
                <a:solidFill>
                  <a:srgbClr val="0A0A0A"/>
                </a:solidFill>
                <a:latin typeface="Noto Sans" pitchFamily="34" charset="0"/>
                <a:ea typeface="Noto Sans" pitchFamily="34" charset="-122"/>
                <a:cs typeface="Noto Sans" pitchFamily="34" charset="-120"/>
              </a:rPr>
              <a:t>Sinh ngẫu nhiên n = 300, p = 0,1, seed = 1, chế độ χ(G).</a:t>
            </a:r>
            <a:endParaRPr lang="en-US" sz="1600" dirty="0"/>
          </a:p>
          <a:p>
            <a:pPr marL="228600" indent="-228600">
              <a:lnSpc>
                <a:spcPts val="2200"/>
              </a:lnSpc>
              <a:spcAft>
                <a:spcPts val="1000"/>
              </a:spcAft>
              <a:buSzPct val="100000"/>
              <a:buChar char="•"/>
            </a:pPr>
            <a:r>
              <a:rPr lang="en-US" sz="1600" dirty="0">
                <a:solidFill>
                  <a:srgbClr val="0A0A0A"/>
                </a:solidFill>
                <a:latin typeface="Noto Sans" pitchFamily="34" charset="0"/>
                <a:ea typeface="Noto Sans" pitchFamily="34" charset="-122"/>
                <a:cs typeface="Noto Sans" pitchFamily="34" charset="-120"/>
              </a:rPr>
              <a:t>Ba heuristic vẫn chạy ra kết quả (không ghi trace vì n &gt; 10) — DSATUR dùng ít màu nhất.</a:t>
            </a:r>
            <a:endParaRPr lang="en-US" sz="1600" dirty="0"/>
          </a:p>
          <a:p>
            <a:pPr marL="228600" indent="-228600">
              <a:lnSpc>
                <a:spcPts val="2200"/>
              </a:lnSpc>
              <a:spcAft>
                <a:spcPts val="1000"/>
              </a:spcAft>
              <a:buSzPct val="100000"/>
              <a:buChar char="•"/>
            </a:pPr>
            <a:r>
              <a:rPr lang="en-US" sz="1600" dirty="0">
                <a:solidFill>
                  <a:srgbClr val="0A0A0A"/>
                </a:solidFill>
                <a:latin typeface="Noto Sans" pitchFamily="34" charset="0"/>
                <a:ea typeface="Noto Sans" pitchFamily="34" charset="-122"/>
                <a:cs typeface="Noto Sans" pitchFamily="34" charset="-120"/>
              </a:rPr>
              <a:t>Quay lui/vét cạn báo "Không áp dụng" thay vì treo trình duyệt.</a:t>
            </a:r>
            <a:endParaRPr lang="en-US" sz="1600" dirty="0"/>
          </a:p>
        </p:txBody>
      </p:sp>
      <p:sp>
        <p:nvSpPr>
          <p:cNvPr id="10" name="Text 8"/>
          <p:cNvSpPr/>
          <p:nvPr/>
        </p:nvSpPr>
        <p:spPr>
          <a:xfrm>
            <a:off x="7132320" y="1417320"/>
            <a:ext cx="4556455" cy="274320"/>
          </a:xfrm>
          <a:prstGeom prst="rect">
            <a:avLst/>
          </a:prstGeom>
          <a:noFill/>
          <a:ln/>
        </p:spPr>
        <p:txBody>
          <a:bodyPr wrap="square" rtlCol="0" anchor="ctr"/>
          <a:lstStyle/>
          <a:p>
            <a:pPr indent="0" marL="0">
              <a:buNone/>
            </a:pPr>
            <a:r>
              <a:rPr lang="en-US" sz="1200" b="1" dirty="0">
                <a:solidFill>
                  <a:srgbClr val="52525B"/>
                </a:solidFill>
                <a:latin typeface="Noto Sans" pitchFamily="34" charset="0"/>
                <a:ea typeface="Noto Sans" pitchFamily="34" charset="-122"/>
                <a:cs typeface="Noto Sans" pitchFamily="34" charset="-120"/>
              </a:rPr>
              <a:t>Thông báo thật của app (precondition)</a:t>
            </a:r>
            <a:endParaRPr lang="en-US" sz="1200" dirty="0"/>
          </a:p>
        </p:txBody>
      </p:sp>
      <p:sp>
        <p:nvSpPr>
          <p:cNvPr id="11" name="Shape 9"/>
          <p:cNvSpPr/>
          <p:nvPr/>
        </p:nvSpPr>
        <p:spPr>
          <a:xfrm>
            <a:off x="7132320" y="1783080"/>
            <a:ext cx="4556455" cy="1298448"/>
          </a:xfrm>
          <a:prstGeom prst="roundRect">
            <a:avLst>
              <a:gd name="adj" fmla="val 4225"/>
            </a:avLst>
          </a:prstGeom>
          <a:solidFill>
            <a:srgbClr val="F4F4F5"/>
          </a:solidFill>
          <a:ln w="9525">
            <a:solidFill>
              <a:srgbClr val="E4E4E7"/>
            </a:solidFill>
            <a:prstDash val="solid"/>
          </a:ln>
        </p:spPr>
      </p:sp>
      <p:sp>
        <p:nvSpPr>
          <p:cNvPr id="12" name="Text 10"/>
          <p:cNvSpPr/>
          <p:nvPr/>
        </p:nvSpPr>
        <p:spPr>
          <a:xfrm>
            <a:off x="7333488" y="1911096"/>
            <a:ext cx="4154119" cy="1042416"/>
          </a:xfrm>
          <a:prstGeom prst="rect">
            <a:avLst/>
          </a:prstGeom>
          <a:noFill/>
          <a:ln/>
        </p:spPr>
        <p:txBody>
          <a:bodyPr wrap="square" rtlCol="0" anchor="t"/>
          <a:lstStyle/>
          <a:p>
            <a:pPr indent="0" marL="0">
              <a:lnSpc>
                <a:spcPts val="1700"/>
              </a:lnSpc>
              <a:buNone/>
            </a:pPr>
            <a:r>
              <a:rPr lang="en-US" sz="1100" dirty="0">
                <a:solidFill>
                  <a:srgbClr val="0A0A0A"/>
                </a:solidFill>
                <a:latin typeface="Noto Sans Mono" pitchFamily="34" charset="0"/>
                <a:ea typeface="Noto Sans Mono" pitchFamily="34" charset="-122"/>
                <a:cs typeface="Noto Sans Mono" pitchFamily="34" charset="-120"/>
              </a:rPr>
              <a:t>Không áp dụng: Quay lui tìm χ(G)</a:t>
            </a:r>
            <a:endParaRPr lang="en-US" sz="1100" dirty="0"/>
          </a:p>
          <a:p>
            <a:pPr indent="0" marL="0">
              <a:lnSpc>
                <a:spcPts val="1700"/>
              </a:lnSpc>
              <a:buNone/>
            </a:pPr>
            <a:r>
              <a:rPr lang="en-US" sz="1100" dirty="0">
                <a:solidFill>
                  <a:srgbClr val="0A0A0A"/>
                </a:solidFill>
                <a:latin typeface="Noto Sans Mono" pitchFamily="34" charset="0"/>
                <a:ea typeface="Noto Sans Mono" pitchFamily="34" charset="-122"/>
                <a:cs typeface="Noto Sans Mono" pitchFamily="34" charset="-120"/>
              </a:rPr>
              <a:t>chỉ an toàn với đồ thị ≤ 10 đỉnh</a:t>
            </a:r>
            <a:endParaRPr lang="en-US" sz="1100" dirty="0"/>
          </a:p>
          <a:p>
            <a:pPr indent="0" marL="0">
              <a:lnSpc>
                <a:spcPts val="1700"/>
              </a:lnSpc>
              <a:buNone/>
            </a:pPr>
            <a:r>
              <a:rPr lang="en-US" sz="1100" dirty="0">
                <a:solidFill>
                  <a:srgbClr val="0A0A0A"/>
                </a:solidFill>
                <a:latin typeface="Noto Sans Mono" pitchFamily="34" charset="0"/>
                <a:ea typeface="Noto Sans Mono" pitchFamily="34" charset="-122"/>
                <a:cs typeface="Noto Sans Mono" pitchFamily="34" charset="-120"/>
              </a:rPr>
              <a:t>khi giữ thứ tự duyệt đã cho (đồ</a:t>
            </a:r>
            <a:endParaRPr lang="en-US" sz="1100" dirty="0"/>
          </a:p>
          <a:p>
            <a:pPr indent="0" marL="0">
              <a:lnSpc>
                <a:spcPts val="1700"/>
              </a:lnSpc>
              <a:buNone/>
            </a:pPr>
            <a:r>
              <a:rPr lang="en-US" sz="1100" dirty="0">
                <a:solidFill>
                  <a:srgbClr val="0A0A0A"/>
                </a:solidFill>
                <a:latin typeface="Noto Sans Mono" pitchFamily="34" charset="0"/>
                <a:ea typeface="Noto Sans Mono" pitchFamily="34" charset="-122"/>
                <a:cs typeface="Noto Sans Mono" pitchFamily="34" charset="-120"/>
              </a:rPr>
              <a:t>thị hiện có 300 đỉnh).</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5 · TƯỜNG THUẬT QUÁ TRÌNH THIẾT KẾ VÀ XÂY DỰNG</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Tiến trình phát triển</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26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85855" cy="2112264"/>
        </p:xfrm>
        <a:graphic>
          <a:graphicData uri="http://schemas.openxmlformats.org/drawingml/2006/table">
            <a:tbl>
              <a:tblPr/>
              <a:tblGrid>
                <a:gridCol w="457200"/>
                <a:gridCol w="3931920"/>
                <a:gridCol w="3931920"/>
              </a:tblGrid>
              <a:tr h="352044">
                <a:tc>
                  <a:txBody>
                    <a:bodyPr/>
                    <a:lstStyle/>
                    <a:p>
                      <a:pPr algn="l" indent="0" marL="0">
                        <a:buNone/>
                      </a:pPr>
                      <a:r>
                        <a:rPr lang="en-US" sz="1200" b="1" dirty="0">
                          <a:solidFill>
                            <a:srgbClr val="FFFFFF"/>
                          </a:solidFill>
                          <a:latin typeface="Noto Sans" pitchFamily="34" charset="0"/>
                          <a:ea typeface="Noto Sans" pitchFamily="34" charset="-122"/>
                          <a:cs typeface="Noto Sans" pitchFamily="34" charset="-120"/>
                        </a:rPr>
                        <a:t>#</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200" b="1" dirty="0">
                          <a:solidFill>
                            <a:srgbClr val="FFFFFF"/>
                          </a:solidFill>
                          <a:latin typeface="Noto Sans" pitchFamily="34" charset="0"/>
                          <a:ea typeface="Noto Sans" pitchFamily="34" charset="-122"/>
                          <a:cs typeface="Noto Sans" pitchFamily="34" charset="-120"/>
                        </a:rPr>
                        <a:t>Giai đoạn</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200" b="1" dirty="0">
                          <a:solidFill>
                            <a:srgbClr val="FFFFFF"/>
                          </a:solidFill>
                          <a:latin typeface="Noto Sans" pitchFamily="34" charset="0"/>
                          <a:ea typeface="Noto Sans" pitchFamily="34" charset="-122"/>
                          <a:cs typeface="Noto Sans" pitchFamily="34" charset="-120"/>
                        </a:rPr>
                        <a:t>Kết quả</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r>
              <a:tr h="352044">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1–3</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Phân tích đề → khảo sát sách → thiết kế kiến trúc</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Note cấu trúc, danh mục ~60 thuật toán, kiến trúc đã chốt</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52044">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4–5</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Bản đầu (cái túi 0/1) → deploy</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PR #1 (11/10); chuyển sang Cloudflare Pages</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52044">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6–8</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Nền tảng catalog → 5 nhóm song song → tích hợp</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PR #2–#8, merge 12/10</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52044">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9–10</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Domain riêng → chiến lược report</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algorithm-visualizer.hieutk.dev (17/10)</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52044">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11</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Nâng cấp tô màu: χ(G), đồ thị lớn, 22 testcase</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200" dirty="0">
                          <a:solidFill>
                            <a:srgbClr val="0A0A0A"/>
                          </a:solidFill>
                          <a:latin typeface="Noto Sans" pitchFamily="34" charset="0"/>
                          <a:ea typeface="Noto Sans" pitchFamily="34" charset="-122"/>
                          <a:cs typeface="Noto Sans" pitchFamily="34" charset="-120"/>
                        </a:rPr>
                        <a:t>3 vòng CHANGES REQUESTED → PR #12, merge 18/10</a:t>
                      </a:r>
                      <a:endParaRPr lang="en-US" sz="12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5 · TƯỜNG THUẬT QUÁ TRÌNH THIẾT KẾ VÀ XÂY DỰNG</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Dùng AI trong xây dựng — công cụ và nguyên tắc</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27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7" name="Text 5"/>
          <p:cNvSpPr/>
          <p:nvPr/>
        </p:nvSpPr>
        <p:spPr>
          <a:xfrm>
            <a:off x="502920" y="1417320"/>
            <a:ext cx="6309360" cy="1700784"/>
          </a:xfrm>
          <a:prstGeom prst="rect">
            <a:avLst/>
          </a:prstGeom>
          <a:noFill/>
          <a:ln/>
        </p:spPr>
        <p:txBody>
          <a:bodyPr wrap="square" rtlCol="0" anchor="t"/>
          <a:lstStyle/>
          <a:p>
            <a:pPr marL="228600" indent="-228600">
              <a:lnSpc>
                <a:spcPts val="2200"/>
              </a:lnSpc>
              <a:spcAft>
                <a:spcPts val="1000"/>
              </a:spcAft>
              <a:buSzPct val="100000"/>
              <a:buChar char="•"/>
            </a:pPr>
            <a:r>
              <a:rPr lang="en-US" sz="1450" b="1" dirty="0">
                <a:solidFill>
                  <a:srgbClr val="0A0A0A"/>
                </a:solidFill>
                <a:latin typeface="Noto Sans" pitchFamily="34" charset="0"/>
                <a:ea typeface="Noto Sans" pitchFamily="34" charset="-122"/>
                <a:cs typeface="Noto Sans" pitchFamily="34" charset="-120"/>
              </a:rPr>
              <a:t>Toàn bộ mã nguồn do AI sinh: Claude Code (Anthropic) và Codex (OpenAI).</a:t>
            </a:r>
            <a:endParaRPr lang="en-US" sz="1450" dirty="0"/>
          </a:p>
          <a:p>
            <a:pPr marL="228600" indent="-228600">
              <a:lnSpc>
                <a:spcPts val="2200"/>
              </a:lnSpc>
              <a:spcAft>
                <a:spcPts val="1000"/>
              </a:spcAft>
              <a:buSzPct val="100000"/>
              <a:buChar char="•"/>
            </a:pPr>
            <a:r>
              <a:rPr lang="en-US" sz="1450" dirty="0">
                <a:solidFill>
                  <a:srgbClr val="0A0A0A"/>
                </a:solidFill>
                <a:latin typeface="Noto Sans" pitchFamily="34" charset="0"/>
                <a:ea typeface="Noto Sans" pitchFamily="34" charset="-122"/>
                <a:cs typeface="Noto Sans" pitchFamily="34" charset="-120"/>
              </a:rPr>
              <a:t>Sinh viên KHÔNG tự viết code và KHÔNG tự review code.</a:t>
            </a:r>
            <a:endParaRPr lang="en-US" sz="1450" dirty="0"/>
          </a:p>
          <a:p>
            <a:pPr marL="228600" indent="-228600">
              <a:lnSpc>
                <a:spcPts val="2200"/>
              </a:lnSpc>
              <a:spcAft>
                <a:spcPts val="1000"/>
              </a:spcAft>
              <a:buSzPct val="100000"/>
              <a:buChar char="•"/>
            </a:pPr>
            <a:r>
              <a:rPr lang="en-US" sz="1450" dirty="0">
                <a:solidFill>
                  <a:srgbClr val="0A0A0A"/>
                </a:solidFill>
                <a:latin typeface="Noto Sans" pitchFamily="34" charset="0"/>
                <a:ea typeface="Noto Sans" pitchFamily="34" charset="-122"/>
                <a:cs typeface="Noto Sans" pitchFamily="34" charset="-120"/>
              </a:rPr>
              <a:t>Nguyên tắc review chéo khác hãng: việc do Claude Code làm thì Codex review, và ngược lại.</a:t>
            </a:r>
            <a:endParaRPr lang="en-US" sz="1450" dirty="0"/>
          </a:p>
          <a:p>
            <a:pPr marL="228600" indent="-228600">
              <a:lnSpc>
                <a:spcPts val="2200"/>
              </a:lnSpc>
              <a:spcAft>
                <a:spcPts val="1000"/>
              </a:spcAft>
              <a:buSzPct val="100000"/>
              <a:buChar char="•"/>
            </a:pPr>
            <a:r>
              <a:rPr lang="en-US" sz="1450" dirty="0">
                <a:solidFill>
                  <a:srgbClr val="0A0A0A"/>
                </a:solidFill>
                <a:latin typeface="Noto Sans" pitchFamily="34" charset="0"/>
                <a:ea typeface="Noto Sans" pitchFamily="34" charset="-122"/>
                <a:cs typeface="Noto Sans" pitchFamily="34" charset="-120"/>
              </a:rPr>
              <a:t>Reviewer chỉ nhận bản diff cố định theo commit, không được sửa code; lỗi chặn gửi lại kèm yêu cầu test hồi quy fail trên code cũ.</a:t>
            </a:r>
            <a:endParaRPr lang="en-US" sz="1450" dirty="0"/>
          </a:p>
        </p:txBody>
      </p:sp>
      <p:sp>
        <p:nvSpPr>
          <p:cNvPr id="8" name="Text 6"/>
          <p:cNvSpPr/>
          <p:nvPr/>
        </p:nvSpPr>
        <p:spPr>
          <a:xfrm>
            <a:off x="7132320" y="1417320"/>
            <a:ext cx="4556455" cy="274320"/>
          </a:xfrm>
          <a:prstGeom prst="rect">
            <a:avLst/>
          </a:prstGeom>
          <a:noFill/>
          <a:ln/>
        </p:spPr>
        <p:txBody>
          <a:bodyPr wrap="square" rtlCol="0" anchor="ctr"/>
          <a:lstStyle/>
          <a:p>
            <a:pPr indent="0" marL="0">
              <a:buNone/>
            </a:pPr>
            <a:r>
              <a:rPr lang="en-US" sz="1200" b="1" dirty="0">
                <a:solidFill>
                  <a:srgbClr val="52525B"/>
                </a:solidFill>
                <a:latin typeface="Noto Sans" pitchFamily="34" charset="0"/>
                <a:ea typeface="Noto Sans" pitchFamily="34" charset="-122"/>
                <a:cs typeface="Noto Sans" pitchFamily="34" charset="-120"/>
              </a:rPr>
              <a:t>Việc sinh viên trực tiếp làm</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132320" y="1783080"/>
          <a:ext cx="4556455" cy="2441448"/>
        </p:xfrm>
        <a:graphic>
          <a:graphicData uri="http://schemas.openxmlformats.org/drawingml/2006/table">
            <a:tbl>
              <a:tblPr/>
              <a:tblGrid>
                <a:gridCol w="4480560"/>
              </a:tblGrid>
              <a:tr h="348778">
                <a:tc>
                  <a:txBody>
                    <a:bodyPr/>
                    <a:lstStyle/>
                    <a:p>
                      <a:pPr algn="l" indent="0" marL="0">
                        <a:buNone/>
                      </a:pPr>
                      <a:r>
                        <a:rPr lang="en-US" sz="1100" b="1" dirty="0">
                          <a:solidFill>
                            <a:srgbClr val="FFFFFF"/>
                          </a:solidFill>
                          <a:latin typeface="Noto Sans" pitchFamily="34" charset="0"/>
                          <a:ea typeface="Noto Sans" pitchFamily="34" charset="-122"/>
                          <a:cs typeface="Noto Sans" pitchFamily="34" charset="-120"/>
                        </a:rPr>
                        <a:t>Việc</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r>
              <a:tr h="348778">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Đặt yêu cầu, phạm vi (toàn bộ sách, không chỉ 1 bài)</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8778">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Chọn công nghệ, phong cách UI (shadcn, trắng đen)</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8778">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Chọn deploy Cloudflare Pages, domain riêng</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8778">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Yêu cầu các mô hình AI tranh luận chiến lược</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8778">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Merge PR sau khi review chéo đạt (mergedBy: tkhieu)</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8778">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Xử lý agent bị chặn (duyệt ngân sách, đăng nhập lại)</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5 · TƯỜNG THUẬT QUÁ TRÌNH THIẾT KẾ VÀ XÂY DỰNG</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Prompt mẫu (trích nguyên văn)</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28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7" name="Shape 5"/>
          <p:cNvSpPr/>
          <p:nvPr/>
        </p:nvSpPr>
        <p:spPr>
          <a:xfrm>
            <a:off x="502920" y="1417320"/>
            <a:ext cx="54864" cy="1225296"/>
          </a:xfrm>
          <a:prstGeom prst="rect">
            <a:avLst/>
          </a:prstGeom>
          <a:solidFill>
            <a:srgbClr val="0A0A0A"/>
          </a:solidFill>
          <a:ln/>
        </p:spPr>
      </p:sp>
      <p:sp>
        <p:nvSpPr>
          <p:cNvPr id="8" name="Text 6"/>
          <p:cNvSpPr/>
          <p:nvPr/>
        </p:nvSpPr>
        <p:spPr>
          <a:xfrm>
            <a:off x="704088" y="1417320"/>
            <a:ext cx="10911535" cy="219456"/>
          </a:xfrm>
          <a:prstGeom prst="rect">
            <a:avLst/>
          </a:prstGeom>
          <a:noFill/>
          <a:ln/>
        </p:spPr>
        <p:txBody>
          <a:bodyPr wrap="square" rtlCol="0" anchor="ctr"/>
          <a:lstStyle/>
          <a:p>
            <a:pPr indent="0" marL="0">
              <a:buNone/>
            </a:pPr>
            <a:r>
              <a:rPr lang="en-US" sz="1100" b="1" dirty="0">
                <a:solidFill>
                  <a:srgbClr val="52525B"/>
                </a:solidFill>
                <a:latin typeface="Noto Sans" pitchFamily="34" charset="0"/>
                <a:ea typeface="Noto Sans" pitchFamily="34" charset="-122"/>
                <a:cs typeface="Noto Sans" pitchFamily="34" charset="-120"/>
              </a:rPr>
              <a:t>Prompt thiết kế giao diện (nguyên văn, giữ nguyên chính tả gốc)</a:t>
            </a:r>
            <a:endParaRPr lang="en-US" sz="1100" dirty="0"/>
          </a:p>
        </p:txBody>
      </p:sp>
      <p:sp>
        <p:nvSpPr>
          <p:cNvPr id="9" name="Text 7"/>
          <p:cNvSpPr/>
          <p:nvPr/>
        </p:nvSpPr>
        <p:spPr>
          <a:xfrm>
            <a:off x="704088" y="1636776"/>
            <a:ext cx="10911535" cy="1005840"/>
          </a:xfrm>
          <a:prstGeom prst="rect">
            <a:avLst/>
          </a:prstGeom>
          <a:noFill/>
          <a:ln/>
        </p:spPr>
        <p:txBody>
          <a:bodyPr wrap="square" rtlCol="0" anchor="t"/>
          <a:lstStyle/>
          <a:p>
            <a:pPr indent="0" marL="0">
              <a:lnSpc>
                <a:spcPts val="1600"/>
              </a:lnSpc>
              <a:buNone/>
            </a:pPr>
            <a:r>
              <a:rPr lang="en-US" sz="1300" i="1" dirty="0">
                <a:solidFill>
                  <a:srgbClr val="0A0A0A"/>
                </a:solidFill>
                <a:latin typeface="Noto Sans" pitchFamily="34" charset="0"/>
                <a:ea typeface="Noto Sans" pitchFamily="34" charset="-122"/>
                <a:cs typeface="Noto Sans" pitchFamily="34" charset="-120"/>
              </a:rPr>
              <a:t>“Hãy chọn 1 đề tài mà bạn nghĩ là hợp lý,. build theo kiến trúc khuyến nghhị, build cho tới khi xong có thể demo đựoc. UI chọn shadcn ui tông màu sáng. trắng đen.”</a:t>
            </a:r>
            <a:endParaRPr lang="en-US" sz="1300" dirty="0"/>
          </a:p>
        </p:txBody>
      </p:sp>
      <p:sp>
        <p:nvSpPr>
          <p:cNvPr id="10" name="Shape 8"/>
          <p:cNvSpPr/>
          <p:nvPr/>
        </p:nvSpPr>
        <p:spPr>
          <a:xfrm>
            <a:off x="502920" y="2770632"/>
            <a:ext cx="54864" cy="1225296"/>
          </a:xfrm>
          <a:prstGeom prst="rect">
            <a:avLst/>
          </a:prstGeom>
          <a:solidFill>
            <a:srgbClr val="0A0A0A"/>
          </a:solidFill>
          <a:ln/>
        </p:spPr>
      </p:sp>
      <p:sp>
        <p:nvSpPr>
          <p:cNvPr id="11" name="Text 9"/>
          <p:cNvSpPr/>
          <p:nvPr/>
        </p:nvSpPr>
        <p:spPr>
          <a:xfrm>
            <a:off x="704088" y="2770632"/>
            <a:ext cx="10911535" cy="219456"/>
          </a:xfrm>
          <a:prstGeom prst="rect">
            <a:avLst/>
          </a:prstGeom>
          <a:noFill/>
          <a:ln/>
        </p:spPr>
        <p:txBody>
          <a:bodyPr wrap="square" rtlCol="0" anchor="ctr"/>
          <a:lstStyle/>
          <a:p>
            <a:pPr indent="0" marL="0">
              <a:buNone/>
            </a:pPr>
            <a:r>
              <a:rPr lang="en-US" sz="1100" b="1" dirty="0">
                <a:solidFill>
                  <a:srgbClr val="52525B"/>
                </a:solidFill>
                <a:latin typeface="Noto Sans" pitchFamily="34" charset="0"/>
                <a:ea typeface="Noto Sans" pitchFamily="34" charset="-122"/>
                <a:cs typeface="Noto Sans" pitchFamily="34" charset="-120"/>
              </a:rPr>
              <a:t>Prompt giao việc nhóm B5 (trích đoạn đầu, log c6dcc10b)</a:t>
            </a:r>
            <a:endParaRPr lang="en-US" sz="1100" dirty="0"/>
          </a:p>
        </p:txBody>
      </p:sp>
      <p:sp>
        <p:nvSpPr>
          <p:cNvPr id="12" name="Text 10"/>
          <p:cNvSpPr/>
          <p:nvPr/>
        </p:nvSpPr>
        <p:spPr>
          <a:xfrm>
            <a:off x="704088" y="2990088"/>
            <a:ext cx="10911535" cy="1005840"/>
          </a:xfrm>
          <a:prstGeom prst="rect">
            <a:avLst/>
          </a:prstGeom>
          <a:noFill/>
          <a:ln/>
        </p:spPr>
        <p:txBody>
          <a:bodyPr wrap="square" rtlCol="0" anchor="t"/>
          <a:lstStyle/>
          <a:p>
            <a:pPr indent="0" marL="0">
              <a:lnSpc>
                <a:spcPts val="1600"/>
              </a:lnSpc>
              <a:buNone/>
            </a:pPr>
            <a:r>
              <a:rPr lang="en-US" sz="1300" i="1" dirty="0">
                <a:solidFill>
                  <a:srgbClr val="0A0A0A"/>
                </a:solidFill>
                <a:latin typeface="Noto Sans" pitchFamily="34" charset="0"/>
                <a:ea typeface="Noto Sans" pitchFamily="34" charset="-122"/>
                <a:cs typeface="Noto Sans" pitchFamily="34" charset="-120"/>
              </a:rPr>
              <a:t>“/goal IMPLEMENT group B5 (tsp, assignment, n-queens, hamiltonian-circuit, subset-sum, graph-coloring (bai So thu), matrix-chain, lcs…”</a:t>
            </a:r>
            <a:endParaRPr lang="en-US" sz="1300" dirty="0"/>
          </a:p>
        </p:txBody>
      </p:sp>
      <p:sp>
        <p:nvSpPr>
          <p:cNvPr id="13" name="Shape 11"/>
          <p:cNvSpPr/>
          <p:nvPr/>
        </p:nvSpPr>
        <p:spPr>
          <a:xfrm>
            <a:off x="502920" y="4123944"/>
            <a:ext cx="54864" cy="1225296"/>
          </a:xfrm>
          <a:prstGeom prst="rect">
            <a:avLst/>
          </a:prstGeom>
          <a:solidFill>
            <a:srgbClr val="0A0A0A"/>
          </a:solidFill>
          <a:ln/>
        </p:spPr>
      </p:sp>
      <p:sp>
        <p:nvSpPr>
          <p:cNvPr id="14" name="Text 12"/>
          <p:cNvSpPr/>
          <p:nvPr/>
        </p:nvSpPr>
        <p:spPr>
          <a:xfrm>
            <a:off x="704088" y="4123944"/>
            <a:ext cx="10911535" cy="219456"/>
          </a:xfrm>
          <a:prstGeom prst="rect">
            <a:avLst/>
          </a:prstGeom>
          <a:noFill/>
          <a:ln/>
        </p:spPr>
        <p:txBody>
          <a:bodyPr wrap="square" rtlCol="0" anchor="ctr"/>
          <a:lstStyle/>
          <a:p>
            <a:pPr indent="0" marL="0">
              <a:buNone/>
            </a:pPr>
            <a:r>
              <a:rPr lang="en-US" sz="1100" b="1" dirty="0">
                <a:solidFill>
                  <a:srgbClr val="52525B"/>
                </a:solidFill>
                <a:latin typeface="Noto Sans" pitchFamily="34" charset="0"/>
                <a:ea typeface="Noto Sans" pitchFamily="34" charset="-122"/>
                <a:cs typeface="Noto Sans" pitchFamily="34" charset="-120"/>
              </a:rPr>
              <a:t>Prompt review lượt 2 (nguyên văn, log 04cbfb0d)</a:t>
            </a:r>
            <a:endParaRPr lang="en-US" sz="1100" dirty="0"/>
          </a:p>
        </p:txBody>
      </p:sp>
      <p:sp>
        <p:nvSpPr>
          <p:cNvPr id="15" name="Text 13"/>
          <p:cNvSpPr/>
          <p:nvPr/>
        </p:nvSpPr>
        <p:spPr>
          <a:xfrm>
            <a:off x="704088" y="4343400"/>
            <a:ext cx="10911535" cy="1005840"/>
          </a:xfrm>
          <a:prstGeom prst="rect">
            <a:avLst/>
          </a:prstGeom>
          <a:noFill/>
          <a:ln/>
        </p:spPr>
        <p:txBody>
          <a:bodyPr wrap="square" rtlCol="0" anchor="t"/>
          <a:lstStyle/>
          <a:p>
            <a:pPr indent="0" marL="0">
              <a:lnSpc>
                <a:spcPts val="1600"/>
              </a:lnSpc>
              <a:buNone/>
            </a:pPr>
            <a:r>
              <a:rPr lang="en-US" sz="1300" i="1" dirty="0">
                <a:solidFill>
                  <a:srgbClr val="0A0A0A"/>
                </a:solidFill>
                <a:latin typeface="Noto Sans" pitchFamily="34" charset="0"/>
                <a:ea typeface="Noto Sans" pitchFamily="34" charset="-122"/>
                <a:cs typeface="Noto Sans" pitchFamily="34" charset="-120"/>
              </a:rPr>
              <a:t>“REVIEW (cross-vendor; fixes by Codex, original by Claude Code) of catalog group B5… Previous review FAILED with 8 blocking issues…”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5 · TƯỜNG THUẬT QUÁ TRÌNH THIẾT KẾ VÀ XÂY DỰNG</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Các sự cố tiêu biểu khi dùng AI và cách xử lý</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29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85855" cy="1783080"/>
        </p:xfrm>
        <a:graphic>
          <a:graphicData uri="http://schemas.openxmlformats.org/drawingml/2006/table">
            <a:tbl>
              <a:tblPr/>
              <a:tblGrid>
                <a:gridCol w="365760"/>
                <a:gridCol w="3566160"/>
                <a:gridCol w="1554480"/>
                <a:gridCol w="3108960"/>
              </a:tblGrid>
              <a:tr h="356616">
                <a:tc>
                  <a:txBody>
                    <a:bodyPr/>
                    <a:lstStyle/>
                    <a:p>
                      <a:pPr algn="l" indent="0" marL="0">
                        <a:buNone/>
                      </a:pPr>
                      <a:r>
                        <a:rPr lang="en-US" sz="1100" b="1" dirty="0">
                          <a:solidFill>
                            <a:srgbClr val="FFFFFF"/>
                          </a:solidFill>
                          <a:latin typeface="Noto Sans" pitchFamily="34" charset="0"/>
                          <a:ea typeface="Noto Sans" pitchFamily="34" charset="-122"/>
                          <a:cs typeface="Noto Sans" pitchFamily="34" charset="-120"/>
                        </a:rPr>
                        <a:t>#</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100" b="1" dirty="0">
                          <a:solidFill>
                            <a:srgbClr val="FFFFFF"/>
                          </a:solidFill>
                          <a:latin typeface="Noto Sans" pitchFamily="34" charset="0"/>
                          <a:ea typeface="Noto Sans" pitchFamily="34" charset="-122"/>
                          <a:cs typeface="Noto Sans" pitchFamily="34" charset="-120"/>
                        </a:rPr>
                        <a:t>Lỗi AI gây ra</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100" b="1" dirty="0">
                          <a:solidFill>
                            <a:srgbClr val="FFFFFF"/>
                          </a:solidFill>
                          <a:latin typeface="Noto Sans" pitchFamily="34" charset="0"/>
                          <a:ea typeface="Noto Sans" pitchFamily="34" charset="-122"/>
                          <a:cs typeface="Noto Sans" pitchFamily="34" charset="-120"/>
                        </a:rPr>
                        <a:t>Ai phát hiện</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100" b="1" dirty="0">
                          <a:solidFill>
                            <a:srgbClr val="FFFFFF"/>
                          </a:solidFill>
                          <a:latin typeface="Noto Sans" pitchFamily="34" charset="0"/>
                          <a:ea typeface="Noto Sans" pitchFamily="34" charset="-122"/>
                          <a:cs typeface="Noto Sans" pitchFamily="34" charset="-120"/>
                        </a:rPr>
                        <a:t>Cách sửa</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r>
              <a:tr h="356616">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1</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Checker tự tham chiếu + heuristic khẳng định sai "vô nghiệm"</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Review chéo (Codex)</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Oracle existsColoring độc lập + cờ heuristic</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56616">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2</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Nhánh cận đánh dấu sai nút tốt nhất là "bị cắt"</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Review chéo (Claude Code)</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8 test hồi quy, fail trên code cũ</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56616">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3</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Lời giải tham chiếu tự tham chiếu (B1, B4, B5)</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Review chéo</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Thay oracle độc lập (đếm, mô phỏng, Held-Karp…)</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56616">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4</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136/184 file viết dồn 1 dòng (&gt;1.000 ký tự/dòng)</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Review chéo</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100" dirty="0">
                          <a:solidFill>
                            <a:srgbClr val="0A0A0A"/>
                          </a:solidFill>
                          <a:latin typeface="Noto Sans" pitchFamily="34" charset="0"/>
                          <a:ea typeface="Noto Sans" pitchFamily="34" charset="-122"/>
                          <a:cs typeface="Noto Sans" pitchFamily="34" charset="-120"/>
                        </a:rPr>
                        <a:t>Format lại — chỉ sửa dòng cần thiết, tránh đụng file chung</a:t>
                      </a:r>
                      <a:endParaRPr lang="en-US" sz="11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5 · TƯỜNG THUẬT QUÁ TRÌNH THIẾT KẾ VÀ XÂY DỰNG</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Bài học rút ra khi dùng AI</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30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7" name="Text 5"/>
          <p:cNvSpPr/>
          <p:nvPr/>
        </p:nvSpPr>
        <p:spPr>
          <a:xfrm>
            <a:off x="502920" y="1417320"/>
            <a:ext cx="11185855" cy="2505456"/>
          </a:xfrm>
          <a:prstGeom prst="rect">
            <a:avLst/>
          </a:prstGeom>
          <a:noFill/>
          <a:ln/>
        </p:spPr>
        <p:txBody>
          <a:bodyPr wrap="square" rtlCol="0" anchor="t"/>
          <a:lstStyle/>
          <a:p>
            <a:pPr marL="228600" indent="-228600">
              <a:lnSpc>
                <a:spcPts val="2200"/>
              </a:lnSpc>
              <a:spcAft>
                <a:spcPts val="1000"/>
              </a:spcAft>
              <a:buSzPct val="100000"/>
              <a:buChar char="•"/>
            </a:pPr>
            <a:r>
              <a:rPr lang="en-US" sz="1500" b="1" dirty="0">
                <a:solidFill>
                  <a:srgbClr val="0A0A0A"/>
                </a:solidFill>
                <a:latin typeface="Noto Sans" pitchFamily="34" charset="0"/>
                <a:ea typeface="Noto Sans" pitchFamily="34" charset="-122"/>
                <a:cs typeface="Noto Sans" pitchFamily="34" charset="-120"/>
              </a:rPr>
              <a:t>AI làm tốt:</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dựng nhanh hệ thống lớn (47 bài toán, 126 cách giải trong ~22 giờ), giữ đúng kiến trúc chung, tự viết test.</a:t>
            </a:r>
            <a:endParaRPr lang="en-US" sz="1500" dirty="0"/>
          </a:p>
          <a:p>
            <a:pPr marL="228600" indent="-228600">
              <a:lnSpc>
                <a:spcPts val="2200"/>
              </a:lnSpc>
              <a:spcAft>
                <a:spcPts val="1000"/>
              </a:spcAft>
              <a:buSzPct val="100000"/>
              <a:buChar char="•"/>
            </a:pPr>
            <a:r>
              <a:rPr lang="en-US" sz="1500" b="1" dirty="0">
                <a:solidFill>
                  <a:srgbClr val="0A0A0A"/>
                </a:solidFill>
                <a:latin typeface="Noto Sans" pitchFamily="34" charset="0"/>
                <a:ea typeface="Noto Sans" pitchFamily="34" charset="-122"/>
                <a:cs typeface="Noto Sans" pitchFamily="34" charset="-120"/>
              </a:rPr>
              <a:t>AI hay sai:</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test tự tham chiếu; trace minh họa sai dù đáp án đúng; "làm cho có"; code khó đọc.</a:t>
            </a:r>
            <a:endParaRPr lang="en-US" sz="1500" dirty="0"/>
          </a:p>
          <a:p>
            <a:pPr marL="228600" indent="-228600">
              <a:lnSpc>
                <a:spcPts val="2200"/>
              </a:lnSpc>
              <a:spcAft>
                <a:spcPts val="1000"/>
              </a:spcAft>
              <a:buSzPct val="100000"/>
              <a:buChar char="•"/>
            </a:pPr>
            <a:r>
              <a:rPr lang="en-US" sz="1500" b="1" dirty="0">
                <a:solidFill>
                  <a:srgbClr val="0A0A0A"/>
                </a:solidFill>
                <a:latin typeface="Noto Sans" pitchFamily="34" charset="0"/>
                <a:ea typeface="Noto Sans" pitchFamily="34" charset="-122"/>
                <a:cs typeface="Noto Sans" pitchFamily="34" charset="-120"/>
              </a:rPr>
              <a:t>Vẫn phải do người kiểm:</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phạm vi và tính trung thực của report; chạy tay để hiểu thuật toán; quyết định merge.</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6 · THIẾT KẾ THỰC NGHIỆM</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Thiết kế thực nghiệm — bộ testcase</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31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7" name="Text 5"/>
          <p:cNvSpPr/>
          <p:nvPr/>
        </p:nvSpPr>
        <p:spPr>
          <a:xfrm>
            <a:off x="502920" y="1417320"/>
            <a:ext cx="6309360" cy="1298448"/>
          </a:xfrm>
          <a:prstGeom prst="rect">
            <a:avLst/>
          </a:prstGeom>
          <a:noFill/>
          <a:ln/>
        </p:spPr>
        <p:txBody>
          <a:bodyPr wrap="square" rtlCol="0" anchor="t"/>
          <a:lstStyle/>
          <a:p>
            <a:pPr marL="228600" indent="-228600">
              <a:lnSpc>
                <a:spcPts val="2200"/>
              </a:lnSpc>
              <a:spcAft>
                <a:spcPts val="1000"/>
              </a:spcAft>
              <a:buSzPct val="100000"/>
              <a:buChar char="•"/>
            </a:pPr>
            <a:r>
              <a:rPr lang="en-US" sz="1550" dirty="0">
                <a:solidFill>
                  <a:srgbClr val="0A0A0A"/>
                </a:solidFill>
                <a:latin typeface="Noto Sans" pitchFamily="34" charset="0"/>
                <a:ea typeface="Noto Sans" pitchFamily="34" charset="-122"/>
                <a:cs typeface="Noto Sans" pitchFamily="34" charset="-120"/>
              </a:rPr>
              <a:t>Viết tay (ca nhỏ, đáp án dễ thấy) + dựng có chủ đích (đồ thị kinh điển đã biết χ) + sinh ngẫu nhiên theo seed.</a:t>
            </a:r>
            <a:endParaRPr lang="en-US" sz="1550" dirty="0"/>
          </a:p>
          <a:p>
            <a:pPr marL="228600" indent="-228600">
              <a:lnSpc>
                <a:spcPts val="2200"/>
              </a:lnSpc>
              <a:spcAft>
                <a:spcPts val="1000"/>
              </a:spcAft>
              <a:buSzPct val="100000"/>
              <a:buChar char="•"/>
            </a:pPr>
            <a:r>
              <a:rPr lang="en-US" sz="1550" dirty="0">
                <a:solidFill>
                  <a:srgbClr val="0A0A0A"/>
                </a:solidFill>
                <a:latin typeface="Noto Sans" pitchFamily="34" charset="0"/>
                <a:ea typeface="Noto Sans" pitchFamily="34" charset="-122"/>
                <a:cs typeface="Noto Sans" pitchFamily="34" charset="-120"/>
              </a:rPr>
              <a:t>App tự hạ xác suất cạnh p để kỳ vọng số cạnh ≤ 7.200, từ chối nếu số cạnh thực vượt 8.000.</a:t>
            </a:r>
            <a:endParaRPr lang="en-US" sz="1550" dirty="0"/>
          </a:p>
          <a:p>
            <a:pPr marL="228600" indent="-228600">
              <a:lnSpc>
                <a:spcPts val="2200"/>
              </a:lnSpc>
              <a:spcAft>
                <a:spcPts val="1000"/>
              </a:spcAft>
              <a:buSzPct val="100000"/>
              <a:buChar char="•"/>
            </a:pPr>
            <a:r>
              <a:rPr lang="en-US" sz="1550" dirty="0">
                <a:solidFill>
                  <a:srgbClr val="0A0A0A"/>
                </a:solidFill>
                <a:latin typeface="Noto Sans" pitchFamily="34" charset="0"/>
                <a:ea typeface="Noto Sans" pitchFamily="34" charset="-122"/>
                <a:cs typeface="Noto Sans" pitchFamily="34" charset="-120"/>
              </a:rPr>
              <a:t>22 file testcase, xuất qua lệnh export của app ra testcases/graph-coloring/.</a:t>
            </a:r>
            <a:endParaRPr lang="en-US" sz="1550" dirty="0"/>
          </a:p>
        </p:txBody>
      </p:sp>
      <p:sp>
        <p:nvSpPr>
          <p:cNvPr id="8" name="Text 6"/>
          <p:cNvSpPr/>
          <p:nvPr/>
        </p:nvSpPr>
        <p:spPr>
          <a:xfrm>
            <a:off x="7132320" y="1417320"/>
            <a:ext cx="4556455" cy="274320"/>
          </a:xfrm>
          <a:prstGeom prst="rect">
            <a:avLst/>
          </a:prstGeom>
          <a:noFill/>
          <a:ln/>
        </p:spPr>
        <p:txBody>
          <a:bodyPr wrap="square" rtlCol="0" anchor="ctr"/>
          <a:lstStyle/>
          <a:p>
            <a:pPr indent="0" marL="0">
              <a:buNone/>
            </a:pPr>
            <a:r>
              <a:rPr lang="en-US" sz="1200" b="1" dirty="0">
                <a:solidFill>
                  <a:srgbClr val="52525B"/>
                </a:solidFill>
                <a:latin typeface="Noto Sans" pitchFamily="34" charset="0"/>
                <a:ea typeface="Noto Sans" pitchFamily="34" charset="-122"/>
                <a:cs typeface="Noto Sans" pitchFamily="34" charset="-120"/>
              </a:rPr>
              <a:t>6 nhóm testcase</a:t>
            </a:r>
            <a:endParaRPr lang="en-US" sz="1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7132320" y="1783080"/>
          <a:ext cx="4556455" cy="2441448"/>
        </p:xfrm>
        <a:graphic>
          <a:graphicData uri="http://schemas.openxmlformats.org/drawingml/2006/table">
            <a:tbl>
              <a:tblPr/>
              <a:tblGrid>
                <a:gridCol w="1188720"/>
                <a:gridCol w="731520"/>
                <a:gridCol w="2468880"/>
              </a:tblGrid>
              <a:tr h="348778">
                <a:tc>
                  <a:txBody>
                    <a:bodyPr/>
                    <a:lstStyle/>
                    <a:p>
                      <a:pPr algn="l" indent="0" marL="0">
                        <a:buNone/>
                      </a:pPr>
                      <a:r>
                        <a:rPr lang="en-US" sz="1050" b="1" dirty="0">
                          <a:solidFill>
                            <a:srgbClr val="FFFFFF"/>
                          </a:solidFill>
                          <a:latin typeface="Noto Sans" pitchFamily="34" charset="0"/>
                          <a:ea typeface="Noto Sans" pitchFamily="34" charset="-122"/>
                          <a:cs typeface="Noto Sans" pitchFamily="34" charset="-120"/>
                        </a:rPr>
                        <a:t>Nhóm</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050" b="1" dirty="0">
                          <a:solidFill>
                            <a:srgbClr val="FFFFFF"/>
                          </a:solidFill>
                          <a:latin typeface="Noto Sans" pitchFamily="34" charset="0"/>
                          <a:ea typeface="Noto Sans" pitchFamily="34" charset="-122"/>
                          <a:cs typeface="Noto Sans" pitchFamily="34" charset="-120"/>
                        </a:rPr>
                        <a:t>Số file</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050" b="1" dirty="0">
                          <a:solidFill>
                            <a:srgbClr val="FFFFFF"/>
                          </a:solidFill>
                          <a:latin typeface="Noto Sans" pitchFamily="34" charset="0"/>
                          <a:ea typeface="Noto Sans" pitchFamily="34" charset="-122"/>
                          <a:cs typeface="Noto Sans" pitchFamily="34" charset="-120"/>
                        </a:rPr>
                        <a:t>Mục đích</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r>
              <a:tr h="348778">
                <a:tc>
                  <a:txBody>
                    <a:bodyPr/>
                    <a:lstStyle/>
                    <a:p>
                      <a:pPr algn="l" indent="0" marL="0">
                        <a:buNone/>
                      </a:pPr>
                      <a:r>
                        <a:rPr lang="en-US" sz="1050" dirty="0">
                          <a:solidFill>
                            <a:srgbClr val="0A0A0A"/>
                          </a:solidFill>
                          <a:latin typeface="Noto Sans" pitchFamily="34" charset="0"/>
                          <a:ea typeface="Noto Sans" pitchFamily="34" charset="-122"/>
                          <a:cs typeface="Noto Sans" pitchFamily="34" charset="-120"/>
                        </a:rPr>
                        <a:t>Thông thường</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050" dirty="0">
                          <a:solidFill>
                            <a:srgbClr val="0A0A0A"/>
                          </a:solidFill>
                          <a:latin typeface="Noto Sans" pitchFamily="34" charset="0"/>
                          <a:ea typeface="Noto Sans" pitchFamily="34" charset="-122"/>
                          <a:cs typeface="Noto Sans" pitchFamily="34" charset="-120"/>
                        </a:rPr>
                        <a:t>5</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050" dirty="0">
                          <a:solidFill>
                            <a:srgbClr val="0A0A0A"/>
                          </a:solidFill>
                          <a:latin typeface="Noto Sans" pitchFamily="34" charset="0"/>
                          <a:ea typeface="Noto Sans" pitchFamily="34" charset="-122"/>
                          <a:cs typeface="Noto Sans" pitchFamily="34" charset="-120"/>
                        </a:rPr>
                        <a:t>Ca điển hình</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8778">
                <a:tc>
                  <a:txBody>
                    <a:bodyPr/>
                    <a:lstStyle/>
                    <a:p>
                      <a:pPr algn="l" indent="0" marL="0">
                        <a:buNone/>
                      </a:pPr>
                      <a:r>
                        <a:rPr lang="en-US" sz="1050" dirty="0">
                          <a:solidFill>
                            <a:srgbClr val="0A0A0A"/>
                          </a:solidFill>
                          <a:latin typeface="Noto Sans" pitchFamily="34" charset="0"/>
                          <a:ea typeface="Noto Sans" pitchFamily="34" charset="-122"/>
                          <a:cs typeface="Noto Sans" pitchFamily="34" charset="-120"/>
                        </a:rPr>
                        <a:t>Biên</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050" dirty="0">
                          <a:solidFill>
                            <a:srgbClr val="0A0A0A"/>
                          </a:solidFill>
                          <a:latin typeface="Noto Sans" pitchFamily="34" charset="0"/>
                          <a:ea typeface="Noto Sans" pitchFamily="34" charset="-122"/>
                          <a:cs typeface="Noto Sans" pitchFamily="34" charset="-120"/>
                        </a:rPr>
                        <a:t>3</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050" dirty="0">
                          <a:solidFill>
                            <a:srgbClr val="0A0A0A"/>
                          </a:solidFill>
                          <a:latin typeface="Noto Sans" pitchFamily="34" charset="0"/>
                          <a:ea typeface="Noto Sans" pitchFamily="34" charset="-122"/>
                          <a:cs typeface="Noto Sans" pitchFamily="34" charset="-120"/>
                        </a:rPr>
                        <a:t>Min/rỗng</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8778">
                <a:tc>
                  <a:txBody>
                    <a:bodyPr/>
                    <a:lstStyle/>
                    <a:p>
                      <a:pPr algn="l" indent="0" marL="0">
                        <a:buNone/>
                      </a:pPr>
                      <a:r>
                        <a:rPr lang="en-US" sz="1050" dirty="0">
                          <a:solidFill>
                            <a:srgbClr val="0A0A0A"/>
                          </a:solidFill>
                          <a:latin typeface="Noto Sans" pitchFamily="34" charset="0"/>
                          <a:ea typeface="Noto Sans" pitchFamily="34" charset="-122"/>
                          <a:cs typeface="Noto Sans" pitchFamily="34" charset="-120"/>
                        </a:rPr>
                        <a:t>Nhỏ</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050" dirty="0">
                          <a:solidFill>
                            <a:srgbClr val="0A0A0A"/>
                          </a:solidFill>
                          <a:latin typeface="Noto Sans" pitchFamily="34" charset="0"/>
                          <a:ea typeface="Noto Sans" pitchFamily="34" charset="-122"/>
                          <a:cs typeface="Noto Sans" pitchFamily="34" charset="-120"/>
                        </a:rPr>
                        <a:t>2</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050" dirty="0">
                          <a:solidFill>
                            <a:srgbClr val="0A0A0A"/>
                          </a:solidFill>
                          <a:latin typeface="Noto Sans" pitchFamily="34" charset="0"/>
                          <a:ea typeface="Noto Sans" pitchFamily="34" charset="-122"/>
                          <a:cs typeface="Noto Sans" pitchFamily="34" charset="-120"/>
                        </a:rPr>
                        <a:t>Kiểm tay được</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8778">
                <a:tc>
                  <a:txBody>
                    <a:bodyPr/>
                    <a:lstStyle/>
                    <a:p>
                      <a:pPr algn="l" indent="0" marL="0">
                        <a:buNone/>
                      </a:pPr>
                      <a:r>
                        <a:rPr lang="en-US" sz="1050" dirty="0">
                          <a:solidFill>
                            <a:srgbClr val="0A0A0A"/>
                          </a:solidFill>
                          <a:latin typeface="Noto Sans" pitchFamily="34" charset="0"/>
                          <a:ea typeface="Noto Sans" pitchFamily="34" charset="-122"/>
                          <a:cs typeface="Noto Sans" pitchFamily="34" charset="-120"/>
                        </a:rPr>
                        <a:t>Lớn</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050" dirty="0">
                          <a:solidFill>
                            <a:srgbClr val="0A0A0A"/>
                          </a:solidFill>
                          <a:latin typeface="Noto Sans" pitchFamily="34" charset="0"/>
                          <a:ea typeface="Noto Sans" pitchFamily="34" charset="-122"/>
                          <a:cs typeface="Noto Sans" pitchFamily="34" charset="-120"/>
                        </a:rPr>
                        <a:t>5</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050" dirty="0">
                          <a:solidFill>
                            <a:srgbClr val="0A0A0A"/>
                          </a:solidFill>
                          <a:latin typeface="Noto Sans" pitchFamily="34" charset="0"/>
                          <a:ea typeface="Noto Sans" pitchFamily="34" charset="-122"/>
                          <a:cs typeface="Noto Sans" pitchFamily="34" charset="-120"/>
                        </a:rPr>
                        <a:t>n đến 310, kiểm hiệu năng</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8778">
                <a:tc>
                  <a:txBody>
                    <a:bodyPr/>
                    <a:lstStyle/>
                    <a:p>
                      <a:pPr algn="l" indent="0" marL="0">
                        <a:buNone/>
                      </a:pPr>
                      <a:r>
                        <a:rPr lang="en-US" sz="1050" dirty="0">
                          <a:solidFill>
                            <a:srgbClr val="0A0A0A"/>
                          </a:solidFill>
                          <a:latin typeface="Noto Sans" pitchFamily="34" charset="0"/>
                          <a:ea typeface="Noto Sans" pitchFamily="34" charset="-122"/>
                          <a:cs typeface="Noto Sans" pitchFamily="34" charset="-120"/>
                        </a:rPr>
                        <a:t>Đặc biệt</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050" dirty="0">
                          <a:solidFill>
                            <a:srgbClr val="0A0A0A"/>
                          </a:solidFill>
                          <a:latin typeface="Noto Sans" pitchFamily="34" charset="0"/>
                          <a:ea typeface="Noto Sans" pitchFamily="34" charset="-122"/>
                          <a:cs typeface="Noto Sans" pitchFamily="34" charset="-120"/>
                        </a:rPr>
                        <a:t>5</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050" dirty="0">
                          <a:solidFill>
                            <a:srgbClr val="0A0A0A"/>
                          </a:solidFill>
                          <a:latin typeface="Noto Sans" pitchFamily="34" charset="0"/>
                          <a:ea typeface="Noto Sans" pitchFamily="34" charset="-122"/>
                          <a:cs typeface="Noto Sans" pitchFamily="34" charset="-120"/>
                        </a:rPr>
                        <a:t>Kₙ, Petersen, Grötzsch…</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348778">
                <a:tc>
                  <a:txBody>
                    <a:bodyPr/>
                    <a:lstStyle/>
                    <a:p>
                      <a:pPr algn="l" indent="0" marL="0">
                        <a:buNone/>
                      </a:pPr>
                      <a:r>
                        <a:rPr lang="en-US" sz="1050" dirty="0">
                          <a:solidFill>
                            <a:srgbClr val="0A0A0A"/>
                          </a:solidFill>
                          <a:latin typeface="Noto Sans" pitchFamily="34" charset="0"/>
                          <a:ea typeface="Noto Sans" pitchFamily="34" charset="-122"/>
                          <a:cs typeface="Noto Sans" pitchFamily="34" charset="-120"/>
                        </a:rPr>
                        <a:t>Không hợp lệ</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050" dirty="0">
                          <a:solidFill>
                            <a:srgbClr val="0A0A0A"/>
                          </a:solidFill>
                          <a:latin typeface="Noto Sans" pitchFamily="34" charset="0"/>
                          <a:ea typeface="Noto Sans" pitchFamily="34" charset="-122"/>
                          <a:cs typeface="Noto Sans" pitchFamily="34" charset="-120"/>
                        </a:rPr>
                        <a:t>2</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050" dirty="0">
                          <a:solidFill>
                            <a:srgbClr val="0A0A0A"/>
                          </a:solidFill>
                          <a:latin typeface="Noto Sans" pitchFamily="34" charset="0"/>
                          <a:ea typeface="Noto Sans" pitchFamily="34" charset="-122"/>
                          <a:cs typeface="Noto Sans" pitchFamily="34" charset="-120"/>
                        </a:rPr>
                        <a:t>k=0, mode sai</a:t>
                      </a:r>
                      <a:endParaRPr lang="en-US" sz="105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7 · ĐÁNH GIÁ</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Hiệu năng trên đồ thị ngẫu nhiên lớn (G(n, p=0,1), 5 seed, trung vị)</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32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85855" cy="2057400"/>
        </p:xfrm>
        <a:graphic>
          <a:graphicData uri="http://schemas.openxmlformats.org/drawingml/2006/table">
            <a:tbl>
              <a:tblPr/>
              <a:tblGrid>
                <a:gridCol w="731520"/>
                <a:gridCol w="2926080"/>
                <a:gridCol w="2926080"/>
                <a:gridCol w="2926080"/>
              </a:tblGrid>
              <a:tr h="411480">
                <a:tc>
                  <a:txBody>
                    <a:bodyPr/>
                    <a:lstStyle/>
                    <a:p>
                      <a:pPr algn="l" indent="0" marL="0">
                        <a:buNone/>
                      </a:pPr>
                      <a:r>
                        <a:rPr lang="en-US" sz="1300" b="1" dirty="0">
                          <a:solidFill>
                            <a:srgbClr val="FFFFFF"/>
                          </a:solidFill>
                          <a:latin typeface="Noto Sans" pitchFamily="34" charset="0"/>
                          <a:ea typeface="Noto Sans" pitchFamily="34" charset="-122"/>
                          <a:cs typeface="Noto Sans" pitchFamily="34" charset="-120"/>
                        </a:rPr>
                        <a:t>n</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300" b="1" dirty="0">
                          <a:solidFill>
                            <a:srgbClr val="FFFFFF"/>
                          </a:solidFill>
                          <a:latin typeface="Noto Sans" pitchFamily="34" charset="0"/>
                          <a:ea typeface="Noto Sans" pitchFamily="34" charset="-122"/>
                          <a:cs typeface="Noto Sans" pitchFamily="34" charset="-120"/>
                        </a:rPr>
                        <a:t>Greedy (ms / màu)</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300" b="1" dirty="0">
                          <a:solidFill>
                            <a:srgbClr val="FFFFFF"/>
                          </a:solidFill>
                          <a:latin typeface="Noto Sans" pitchFamily="34" charset="0"/>
                          <a:ea typeface="Noto Sans" pitchFamily="34" charset="-122"/>
                          <a:cs typeface="Noto Sans" pitchFamily="34" charset="-120"/>
                        </a:rPr>
                        <a:t>Welsh–Powell (ms / màu)</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c>
                  <a:txBody>
                    <a:bodyPr/>
                    <a:lstStyle/>
                    <a:p>
                      <a:pPr algn="l" indent="0" marL="0">
                        <a:buNone/>
                      </a:pPr>
                      <a:r>
                        <a:rPr lang="en-US" sz="1300" b="1" dirty="0">
                          <a:solidFill>
                            <a:srgbClr val="FFFFFF"/>
                          </a:solidFill>
                          <a:latin typeface="Noto Sans" pitchFamily="34" charset="0"/>
                          <a:ea typeface="Noto Sans" pitchFamily="34" charset="-122"/>
                          <a:cs typeface="Noto Sans" pitchFamily="34" charset="-120"/>
                        </a:rPr>
                        <a:t>DSATUR (ms / màu)</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solidFill>
                      <a:srgbClr val="18181B"/>
                    </a:solidFill>
                  </a:tcPr>
                </a:tc>
              </a:tr>
              <a:tr h="411480">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50</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0,098 / 5</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0,241 / 4</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1,173 / 4</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411480">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100</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0,279 / 7</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0,692 / 6</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7,958 / 6</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411480">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200</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1,359 / 12</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3,181 / 10</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64,816 / 8</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r h="411480">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300</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3,579 / 14</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7,363 / 13</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c>
                  <a:txBody>
                    <a:bodyPr/>
                    <a:lstStyle/>
                    <a:p>
                      <a:pPr algn="l" indent="0" marL="0">
                        <a:buNone/>
                      </a:pPr>
                      <a:r>
                        <a:rPr lang="en-US" sz="1300" dirty="0">
                          <a:solidFill>
                            <a:srgbClr val="0A0A0A"/>
                          </a:solidFill>
                          <a:latin typeface="Noto Sans" pitchFamily="34" charset="0"/>
                          <a:ea typeface="Noto Sans" pitchFamily="34" charset="-122"/>
                          <a:cs typeface="Noto Sans" pitchFamily="34" charset="-120"/>
                        </a:rPr>
                        <a:t>203,489 / 11</a:t>
                      </a:r>
                      <a:endParaRPr lang="en-US" sz="1300" dirty="0">
                        <a:latin typeface="Noto Sans" charset="0"/>
                        <a:ea typeface="Noto Sans" charset="0"/>
                        <a:cs typeface="Noto Sans" charset="0"/>
                      </a:endParaRPr>
                    </a:p>
                  </a:txBody>
                  <a:tcPr marL="91440" marR="91440" marT="45720" marB="45720" anchor="ctr">
                    <a:lnL w="9525" cap="flat" cmpd="sng" algn="ctr">
                      <a:solidFill>
                        <a:srgbClr val="E4E4E7"/>
                      </a:solidFill>
                      <a:prstDash val="solid"/>
                      <a:round/>
                      <a:headEnd type="none" w="med" len="med"/>
                      <a:tailEnd type="none" w="med" len="med"/>
                    </a:lnL>
                    <a:lnR w="9525" cap="flat" cmpd="sng" algn="ctr">
                      <a:solidFill>
                        <a:srgbClr val="E4E4E7"/>
                      </a:solidFill>
                      <a:prstDash val="solid"/>
                      <a:round/>
                      <a:headEnd type="none" w="med" len="med"/>
                      <a:tailEnd type="none" w="med" len="med"/>
                    </a:lnR>
                    <a:lnT w="9525" cap="flat" cmpd="sng" algn="ctr">
                      <a:solidFill>
                        <a:srgbClr val="E4E4E7"/>
                      </a:solidFill>
                      <a:prstDash val="solid"/>
                      <a:round/>
                      <a:headEnd type="none" w="med" len="med"/>
                      <a:tailEnd type="none" w="med" len="med"/>
                    </a:lnT>
                    <a:lnB w="9525" cap="flat" cmpd="sng" algn="ctr">
                      <a:solidFill>
                        <a:srgbClr val="E4E4E7"/>
                      </a:solidFill>
                      <a:prstDash val="solid"/>
                      <a:round/>
                      <a:headEnd type="none" w="med" len="med"/>
                      <a:tailEnd type="none" w="med" len="med"/>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7 · ĐÁNH GIÁ</a:t>
            </a:r>
            <a:endParaRPr lang="en-US" sz="1100" dirty="0"/>
          </a:p>
        </p:txBody>
      </p:sp>
      <p:sp>
        <p:nvSpPr>
          <p:cNvPr id="3" name="Text 1"/>
          <p:cNvSpPr/>
          <p:nvPr/>
        </p:nvSpPr>
        <p:spPr>
          <a:xfrm>
            <a:off x="502920" y="548640"/>
            <a:ext cx="11185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Đánh giá: tính đúng, trực quan, hạn chế</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Text 3"/>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33 / 35</a:t>
            </a:r>
            <a:endParaRPr lang="en-US" sz="1000" dirty="0"/>
          </a:p>
        </p:txBody>
      </p:sp>
      <p:sp>
        <p:nvSpPr>
          <p:cNvPr id="6" name="Text 4"/>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7" name="Text 5"/>
          <p:cNvSpPr/>
          <p:nvPr/>
        </p:nvSpPr>
        <p:spPr>
          <a:xfrm>
            <a:off x="502920" y="1417320"/>
            <a:ext cx="11185855" cy="2505456"/>
          </a:xfrm>
          <a:prstGeom prst="rect">
            <a:avLst/>
          </a:prstGeom>
          <a:noFill/>
          <a:ln/>
        </p:spPr>
        <p:txBody>
          <a:bodyPr wrap="square" rtlCol="0" anchor="t"/>
          <a:lstStyle/>
          <a:p>
            <a:pPr marL="228600" indent="-228600">
              <a:lnSpc>
                <a:spcPts val="2200"/>
              </a:lnSpc>
              <a:spcAft>
                <a:spcPts val="1000"/>
              </a:spcAft>
              <a:buSzPct val="100000"/>
              <a:buChar char="•"/>
            </a:pPr>
            <a:r>
              <a:rPr lang="en-US" sz="1300" b="1" dirty="0">
                <a:solidFill>
                  <a:srgbClr val="0A0A0A"/>
                </a:solidFill>
                <a:latin typeface="Noto Sans" pitchFamily="34" charset="0"/>
                <a:ea typeface="Noto Sans" pitchFamily="34" charset="-122"/>
                <a:cs typeface="Noto Sans" pitchFamily="34" charset="-120"/>
              </a:rPr>
              <a:t>Tính đúng:</a:t>
            </a:r>
            <a:endParaRPr lang="en-US" sz="1300" dirty="0"/>
          </a:p>
          <a:p>
            <a:pPr marL="228600" indent="-228600">
              <a:lnSpc>
                <a:spcPts val="2200"/>
              </a:lnSpc>
              <a:spcAft>
                <a:spcPts val="1000"/>
              </a:spcAft>
              <a:buSzPct val="100000"/>
              <a:buChar char="•"/>
            </a:pPr>
            <a:r>
              <a:rPr lang="en-US" sz="1300" dirty="0">
                <a:solidFill>
                  <a:srgbClr val="0A0A0A"/>
                </a:solidFill>
                <a:latin typeface="Noto Sans" pitchFamily="34" charset="0"/>
                <a:ea typeface="Noto Sans" pitchFamily="34" charset="-122"/>
                <a:cs typeface="Noto Sans" pitchFamily="34" charset="-120"/>
              </a:rPr>
              <a:t>"Đạt 22/22"; 314/314 e2e pass trên chính domain https://algorithm-visualizer.hieutk.dev; 825 unit test; quay lui/vét cạn so với oracle độc lập.</a:t>
            </a:r>
            <a:endParaRPr lang="en-US" sz="1300" dirty="0"/>
          </a:p>
          <a:p>
            <a:pPr marL="228600" indent="-228600">
              <a:lnSpc>
                <a:spcPts val="2200"/>
              </a:lnSpc>
              <a:spcAft>
                <a:spcPts val="1000"/>
              </a:spcAft>
              <a:buSzPct val="100000"/>
              <a:buChar char="•"/>
            </a:pPr>
            <a:r>
              <a:rPr lang="en-US" sz="1300" b="1" dirty="0">
                <a:solidFill>
                  <a:srgbClr val="0A0A0A"/>
                </a:solidFill>
                <a:latin typeface="Noto Sans" pitchFamily="34" charset="0"/>
                <a:ea typeface="Noto Sans" pitchFamily="34" charset="-122"/>
                <a:cs typeface="Noto Sans" pitchFamily="34" charset="-120"/>
              </a:rPr>
              <a:t>Trực quan:</a:t>
            </a:r>
            <a:endParaRPr lang="en-US" sz="1300" dirty="0"/>
          </a:p>
          <a:p>
            <a:pPr marL="228600" indent="-228600">
              <a:lnSpc>
                <a:spcPts val="2200"/>
              </a:lnSpc>
              <a:spcAft>
                <a:spcPts val="1000"/>
              </a:spcAft>
              <a:buSzPct val="100000"/>
              <a:buChar char="•"/>
            </a:pPr>
            <a:r>
              <a:rPr lang="en-US" sz="1300" dirty="0">
                <a:solidFill>
                  <a:srgbClr val="0A0A0A"/>
                </a:solidFill>
                <a:latin typeface="Noto Sans" pitchFamily="34" charset="0"/>
                <a:ea typeface="Noto Sans" pitchFamily="34" charset="-122"/>
                <a:cs typeface="Noto Sans" pitchFamily="34" charset="-120"/>
              </a:rPr>
              <a:t>mỗi bước có mã giả + giải thích + trạng thái đồ thị; lùi được bất kỳ bước; cây trạng thái thấy rõ lúc quay lui.</a:t>
            </a:r>
            <a:endParaRPr lang="en-US" sz="1300" dirty="0"/>
          </a:p>
          <a:p>
            <a:pPr marL="228600" indent="-228600">
              <a:lnSpc>
                <a:spcPts val="2200"/>
              </a:lnSpc>
              <a:spcAft>
                <a:spcPts val="1000"/>
              </a:spcAft>
              <a:buSzPct val="100000"/>
              <a:buChar char="•"/>
            </a:pPr>
            <a:r>
              <a:rPr lang="en-US" sz="1300" b="1" dirty="0">
                <a:solidFill>
                  <a:srgbClr val="0A0A0A"/>
                </a:solidFill>
                <a:latin typeface="Noto Sans" pitchFamily="34" charset="0"/>
                <a:ea typeface="Noto Sans" pitchFamily="34" charset="-122"/>
                <a:cs typeface="Noto Sans" pitchFamily="34" charset="-120"/>
              </a:rPr>
              <a:t>Hạn chế:</a:t>
            </a:r>
            <a:endParaRPr lang="en-US" sz="1300" dirty="0"/>
          </a:p>
          <a:p>
            <a:pPr marL="228600" indent="-228600">
              <a:lnSpc>
                <a:spcPts val="2200"/>
              </a:lnSpc>
              <a:spcAft>
                <a:spcPts val="1000"/>
              </a:spcAft>
              <a:buSzPct val="100000"/>
              <a:buChar char="•"/>
            </a:pPr>
            <a:r>
              <a:rPr lang="en-US" sz="1300" dirty="0">
                <a:solidFill>
                  <a:srgbClr val="0A0A0A"/>
                </a:solidFill>
                <a:latin typeface="Noto Sans" pitchFamily="34" charset="0"/>
                <a:ea typeface="Noto Sans" pitchFamily="34" charset="-122"/>
                <a:cs typeface="Noto Sans" pitchFamily="34" charset="-120"/>
              </a:rPr>
              <a:t>thuật toán chính xác chỉ chạy đồ thị nhỏ; với n &gt; 12 không biết χ thật; heuristic không bảo đảm; toàn bộ code do AI sinh, có thể còn lỗi chưa phát hiện.</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991295" cy="274320"/>
          </a:xfrm>
          <a:prstGeom prst="rect">
            <a:avLst/>
          </a:prstGeom>
          <a:noFill/>
          <a:ln/>
        </p:spPr>
        <p:txBody>
          <a:bodyPr wrap="square" rtlCol="0" anchor="ctr"/>
          <a:lstStyle/>
          <a:p>
            <a:pPr indent="0" marL="0">
              <a:buNone/>
            </a:pPr>
            <a:r>
              <a:rPr lang="en-US" sz="1100" b="1" spc="100" kern="0" dirty="0">
                <a:solidFill>
                  <a:srgbClr val="71717A"/>
                </a:solidFill>
                <a:latin typeface="Noto Sans" pitchFamily="34" charset="0"/>
                <a:ea typeface="Noto Sans" pitchFamily="34" charset="-122"/>
                <a:cs typeface="Noto Sans" pitchFamily="34" charset="-120"/>
              </a:rPr>
              <a:t>CHƯƠNG 7–8 · HƯỚNG PHÁT TRIỂN VÀ MỞ RỘNG</a:t>
            </a:r>
            <a:endParaRPr lang="en-US" sz="1100" dirty="0"/>
          </a:p>
        </p:txBody>
      </p:sp>
      <p:sp>
        <p:nvSpPr>
          <p:cNvPr id="3" name="Text 1"/>
          <p:cNvSpPr/>
          <p:nvPr/>
        </p:nvSpPr>
        <p:spPr>
          <a:xfrm>
            <a:off x="502920" y="548640"/>
            <a:ext cx="8899855" cy="731520"/>
          </a:xfrm>
          <a:prstGeom prst="rect">
            <a:avLst/>
          </a:prstGeom>
          <a:noFill/>
          <a:ln/>
        </p:spPr>
        <p:txBody>
          <a:bodyPr wrap="square" rtlCol="0" anchor="t"/>
          <a:lstStyle/>
          <a:p>
            <a:pPr indent="0" marL="0">
              <a:buNone/>
            </a:pPr>
            <a:r>
              <a:rPr lang="en-US" sz="2500" b="1" dirty="0">
                <a:solidFill>
                  <a:srgbClr val="0A0A0A"/>
                </a:solidFill>
                <a:latin typeface="Noto Sans" pitchFamily="34" charset="0"/>
                <a:ea typeface="Noto Sans" pitchFamily="34" charset="-122"/>
                <a:cs typeface="Noto Sans" pitchFamily="34" charset="-120"/>
              </a:rPr>
              <a:t>Hướng phát triển &amp; mở rộng: toàn bộ sách Levitin</a:t>
            </a:r>
            <a:endParaRPr lang="en-US" sz="2500" dirty="0"/>
          </a:p>
        </p:txBody>
      </p:sp>
      <p:sp>
        <p:nvSpPr>
          <p:cNvPr id="4" name="Shape 2"/>
          <p:cNvSpPr/>
          <p:nvPr/>
        </p:nvSpPr>
        <p:spPr>
          <a:xfrm>
            <a:off x="502920" y="1307592"/>
            <a:ext cx="11185855" cy="0"/>
          </a:xfrm>
          <a:prstGeom prst="line">
            <a:avLst/>
          </a:prstGeom>
          <a:noFill/>
          <a:ln w="12700">
            <a:solidFill>
              <a:srgbClr val="D4D4D8"/>
            </a:solidFill>
            <a:prstDash val="solid"/>
          </a:ln>
        </p:spPr>
      </p:sp>
      <p:sp>
        <p:nvSpPr>
          <p:cNvPr id="5" name="Shape 3"/>
          <p:cNvSpPr/>
          <p:nvPr/>
        </p:nvSpPr>
        <p:spPr>
          <a:xfrm>
            <a:off x="9539935" y="384048"/>
            <a:ext cx="2148840" cy="420624"/>
          </a:xfrm>
          <a:prstGeom prst="roundRect">
            <a:avLst>
              <a:gd name="adj" fmla="val 17391"/>
            </a:avLst>
          </a:prstGeom>
          <a:solidFill>
            <a:srgbClr val="18181B"/>
          </a:solidFill>
          <a:ln/>
        </p:spPr>
      </p:sp>
      <p:sp>
        <p:nvSpPr>
          <p:cNvPr id="6" name="Text 4"/>
          <p:cNvSpPr/>
          <p:nvPr/>
        </p:nvSpPr>
        <p:spPr>
          <a:xfrm>
            <a:off x="9539935" y="384048"/>
            <a:ext cx="2148840" cy="420624"/>
          </a:xfrm>
          <a:prstGeom prst="rect">
            <a:avLst/>
          </a:prstGeom>
          <a:noFill/>
          <a:ln/>
        </p:spPr>
        <p:txBody>
          <a:bodyPr wrap="square" rtlCol="0" anchor="ctr"/>
          <a:lstStyle/>
          <a:p>
            <a:pPr algn="ctr" indent="0" marL="0">
              <a:buNone/>
            </a:pPr>
            <a:r>
              <a:rPr lang="en-US" sz="1100" b="1" dirty="0">
                <a:solidFill>
                  <a:srgbClr val="FFFFFF"/>
                </a:solidFill>
                <a:latin typeface="Noto Sans" pitchFamily="34" charset="0"/>
                <a:ea typeface="Noto Sans" pitchFamily="34" charset="-122"/>
                <a:cs typeface="Noto Sans" pitchFamily="34" charset="-120"/>
              </a:rPr>
              <a:t>▶ DEMO TRỰC TIẾP</a:t>
            </a:r>
            <a:endParaRPr lang="en-US" sz="1100" dirty="0"/>
          </a:p>
        </p:txBody>
      </p:sp>
      <p:sp>
        <p:nvSpPr>
          <p:cNvPr id="7" name="Text 5"/>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34 / 35</a:t>
            </a:r>
            <a:endParaRPr lang="en-US" sz="1000" dirty="0"/>
          </a:p>
        </p:txBody>
      </p:sp>
      <p:sp>
        <p:nvSpPr>
          <p:cNvPr id="8" name="Text 6"/>
          <p:cNvSpPr/>
          <p:nvPr/>
        </p:nvSpPr>
        <p:spPr>
          <a:xfrm>
            <a:off x="502920" y="6473952"/>
            <a:ext cx="5486400" cy="274320"/>
          </a:xfrm>
          <a:prstGeom prst="rect">
            <a:avLst/>
          </a:prstGeom>
          <a:noFill/>
          <a:ln/>
        </p:spPr>
        <p:txBody>
          <a:bodyPr wrap="square" rtlCol="0" anchor="ctr"/>
          <a:lstStyle/>
          <a:p>
            <a:pPr indent="0" marL="0">
              <a:buNone/>
            </a:pPr>
            <a:r>
              <a:rPr lang="en-US" sz="1000" dirty="0">
                <a:solidFill>
                  <a:srgbClr val="71717A"/>
                </a:solidFill>
                <a:latin typeface="Noto Sans" pitchFamily="34" charset="0"/>
                <a:ea typeface="Noto Sans" pitchFamily="34" charset="-122"/>
                <a:cs typeface="Noto Sans" pitchFamily="34" charset="-120"/>
              </a:rPr>
              <a:t>CS112 · Tô màu đồ thị (bài Sở thú)</a:t>
            </a:r>
            <a:endParaRPr lang="en-US" sz="1000" dirty="0"/>
          </a:p>
        </p:txBody>
      </p:sp>
      <p:sp>
        <p:nvSpPr>
          <p:cNvPr id="9" name="Text 7"/>
          <p:cNvSpPr/>
          <p:nvPr/>
        </p:nvSpPr>
        <p:spPr>
          <a:xfrm>
            <a:off x="502920" y="1417320"/>
            <a:ext cx="11185855" cy="1700784"/>
          </a:xfrm>
          <a:prstGeom prst="rect">
            <a:avLst/>
          </a:prstGeom>
          <a:noFill/>
          <a:ln/>
        </p:spPr>
        <p:txBody>
          <a:bodyPr wrap="square" rtlCol="0" anchor="t"/>
          <a:lstStyle/>
          <a:p>
            <a:pPr marL="228600" indent="-228600">
              <a:lnSpc>
                <a:spcPts val="2200"/>
              </a:lnSpc>
              <a:spcAft>
                <a:spcPts val="1000"/>
              </a:spcAft>
              <a:buSzPct val="100000"/>
              <a:buChar char="•"/>
            </a:pPr>
            <a:r>
              <a:rPr lang="en-US" sz="1500" b="1" dirty="0">
                <a:solidFill>
                  <a:srgbClr val="0A0A0A"/>
                </a:solidFill>
                <a:latin typeface="Noto Sans" pitchFamily="34" charset="0"/>
                <a:ea typeface="Noto Sans" pitchFamily="34" charset="-122"/>
                <a:cs typeface="Noto Sans" pitchFamily="34" charset="-120"/>
              </a:rPr>
              <a:t>Hướng phát triển:</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thêm nhánh cận (clique + DSATUR) để tìm χ(G) trên đồ thị lớn hơn; thêm biến thể (tô màu cạnh, list coloring); nhập đồ thị bằng vẽ tay.</a:t>
            </a:r>
            <a:endParaRPr lang="en-US" sz="1500" dirty="0"/>
          </a:p>
          <a:p>
            <a:pPr marL="228600" indent="-228600">
              <a:lnSpc>
                <a:spcPts val="2200"/>
              </a:lnSpc>
              <a:spcAft>
                <a:spcPts val="1000"/>
              </a:spcAft>
              <a:buSzPct val="100000"/>
              <a:buChar char="•"/>
            </a:pPr>
            <a:r>
              <a:rPr lang="en-US" sz="1500" b="1" dirty="0">
                <a:solidFill>
                  <a:srgbClr val="0A0A0A"/>
                </a:solidFill>
                <a:latin typeface="Noto Sans" pitchFamily="34" charset="0"/>
                <a:ea typeface="Noto Sans" pitchFamily="34" charset="-122"/>
                <a:cs typeface="Noto Sans" pitchFamily="34" charset="-120"/>
              </a:rPr>
              <a:t>Mở rộng đã có (≈30s):</a:t>
            </a:r>
            <a:endParaRPr lang="en-US" sz="1500" dirty="0"/>
          </a:p>
          <a:p>
            <a:pPr marL="228600" indent="-228600">
              <a:lnSpc>
                <a:spcPts val="2200"/>
              </a:lnSpc>
              <a:spcAft>
                <a:spcPts val="1000"/>
              </a:spcAft>
              <a:buSzPct val="100000"/>
              <a:buChar char="•"/>
            </a:pPr>
            <a:r>
              <a:rPr lang="en-US" sz="1500" dirty="0">
                <a:solidFill>
                  <a:srgbClr val="0A0A0A"/>
                </a:solidFill>
                <a:latin typeface="Noto Sans" pitchFamily="34" charset="0"/>
                <a:ea typeface="Noto Sans" pitchFamily="34" charset="-122"/>
                <a:cs typeface="Noto Sans" pitchFamily="34" charset="-120"/>
              </a:rPr>
              <a:t>cùng nền tảng Player/So sánh/Testcase phục vụ 47 bài toán, 126 cách giải trong sách Levitin (Dijkstra, LCS, TSP, n-hậu…) — phần chấm điểm chính vẫn là bài Tô màu đồ thị.</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02920" y="2103120"/>
            <a:ext cx="11185855" cy="914400"/>
          </a:xfrm>
          <a:prstGeom prst="rect">
            <a:avLst/>
          </a:prstGeom>
          <a:noFill/>
          <a:ln/>
        </p:spPr>
        <p:txBody>
          <a:bodyPr wrap="square" rtlCol="0" anchor="ctr"/>
          <a:lstStyle/>
          <a:p>
            <a:pPr algn="ctr" indent="0" marL="0">
              <a:buNone/>
            </a:pPr>
            <a:r>
              <a:rPr lang="en-US" sz="4000" b="1" dirty="0">
                <a:solidFill>
                  <a:srgbClr val="FFFFFF"/>
                </a:solidFill>
                <a:latin typeface="Noto Sans" pitchFamily="34" charset="0"/>
                <a:ea typeface="Noto Sans" pitchFamily="34" charset="-122"/>
                <a:cs typeface="Noto Sans" pitchFamily="34" charset="-120"/>
              </a:rPr>
              <a:t>Cảm ơn cô đã xem</a:t>
            </a:r>
            <a:endParaRPr lang="en-US" sz="4000" dirty="0"/>
          </a:p>
        </p:txBody>
      </p:sp>
      <p:sp>
        <p:nvSpPr>
          <p:cNvPr id="3" name="Text 1"/>
          <p:cNvSpPr/>
          <p:nvPr/>
        </p:nvSpPr>
        <p:spPr>
          <a:xfrm>
            <a:off x="1600200" y="3291840"/>
            <a:ext cx="8991295" cy="2377440"/>
          </a:xfrm>
          <a:prstGeom prst="rect">
            <a:avLst/>
          </a:prstGeom>
          <a:noFill/>
          <a:ln/>
        </p:spPr>
        <p:txBody>
          <a:bodyPr wrap="square" rtlCol="0" anchor="t"/>
          <a:lstStyle/>
          <a:p>
            <a:pPr marL="228600" indent="-228600">
              <a:lnSpc>
                <a:spcPts val="2200"/>
              </a:lnSpc>
              <a:spcAft>
                <a:spcPts val="1000"/>
              </a:spcAft>
              <a:buSzPct val="100000"/>
              <a:buChar char="•"/>
            </a:pPr>
            <a:r>
              <a:rPr lang="en-US" sz="1600" dirty="0">
                <a:solidFill>
                  <a:srgbClr val="D4D4D8"/>
                </a:solidFill>
                <a:latin typeface="Noto Sans" pitchFamily="34" charset="0"/>
                <a:ea typeface="Noto Sans" pitchFamily="34" charset="-122"/>
                <a:cs typeface="Noto Sans" pitchFamily="34" charset="-120"/>
              </a:rPr>
              <a:t>Hạn chế: thuật toán chính xác chỉ chạy đồ thị nhỏ; heuristic không bảo đảm tìm nghiệm.</a:t>
            </a:r>
            <a:endParaRPr lang="en-US" sz="1600" dirty="0"/>
          </a:p>
          <a:p>
            <a:pPr marL="228600" indent="-228600">
              <a:lnSpc>
                <a:spcPts val="2200"/>
              </a:lnSpc>
              <a:spcAft>
                <a:spcPts val="1000"/>
              </a:spcAft>
              <a:buSzPct val="100000"/>
              <a:buChar char="•"/>
            </a:pPr>
            <a:r>
              <a:rPr lang="en-US" sz="1600" dirty="0">
                <a:solidFill>
                  <a:srgbClr val="D4D4D8"/>
                </a:solidFill>
                <a:latin typeface="Noto Sans" pitchFamily="34" charset="0"/>
                <a:ea typeface="Noto Sans" pitchFamily="34" charset="-122"/>
                <a:cs typeface="Noto Sans" pitchFamily="34" charset="-120"/>
              </a:rPr>
              <a:t>Mã nguồn được sinh bằng AI (Claude Code, Codex), kiểm chứng bằng review chéo và test độc lập — chi tiết trong report.</a:t>
            </a:r>
            <a:endParaRPr lang="en-US" sz="1600" dirty="0"/>
          </a:p>
          <a:p>
            <a:pPr marL="228600" indent="-228600">
              <a:lnSpc>
                <a:spcPts val="2200"/>
              </a:lnSpc>
              <a:spcAft>
                <a:spcPts val="1000"/>
              </a:spcAft>
              <a:buSzPct val="100000"/>
              <a:buChar char="•"/>
            </a:pPr>
            <a:r>
              <a:rPr lang="en-US" sz="1600" dirty="0">
                <a:solidFill>
                  <a:srgbClr val="D4D4D8"/>
                </a:solidFill>
                <a:latin typeface="Noto Sans" pitchFamily="34" charset="0"/>
                <a:ea typeface="Noto Sans" pitchFamily="34" charset="-122"/>
                <a:cs typeface="Noto Sans" pitchFamily="34" charset="-120"/>
              </a:rPr>
              <a:t>Demo trực tuyến: algorithm-visualizer.hieutk.dev</a:t>
            </a:r>
            <a:endParaRPr lang="en-US" sz="1600" dirty="0"/>
          </a:p>
        </p:txBody>
      </p:sp>
      <p:sp>
        <p:nvSpPr>
          <p:cNvPr id="4" name="Text 2"/>
          <p:cNvSpPr/>
          <p:nvPr/>
        </p:nvSpPr>
        <p:spPr>
          <a:xfrm>
            <a:off x="10865815" y="6473952"/>
            <a:ext cx="822960" cy="274320"/>
          </a:xfrm>
          <a:prstGeom prst="rect">
            <a:avLst/>
          </a:prstGeom>
          <a:noFill/>
          <a:ln/>
        </p:spPr>
        <p:txBody>
          <a:bodyPr wrap="square" rtlCol="0" anchor="ctr"/>
          <a:lstStyle/>
          <a:p>
            <a:pPr algn="r" indent="0" marL="0">
              <a:buNone/>
            </a:pPr>
            <a:r>
              <a:rPr lang="en-US" sz="1000" dirty="0">
                <a:solidFill>
                  <a:srgbClr val="71717A"/>
                </a:solidFill>
                <a:latin typeface="Noto Sans" pitchFamily="34" charset="0"/>
                <a:ea typeface="Noto Sans" pitchFamily="34" charset="-122"/>
                <a:cs typeface="Noto Sans" pitchFamily="34" charset="-120"/>
              </a:rPr>
              <a:t>35 / 35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Tô màu đồ thị (bài Sở thú) — Thuyết trình video demo</dc:title>
  <dc:subject>PptxGenJS Presentation</dc:subject>
  <dc:creator>CS112.F31 — Algorithm Visualizer</dc:creator>
  <cp:lastModifiedBy>CS112.F31 — Algorithm Visualizer</cp:lastModifiedBy>
  <cp:revision>1</cp:revision>
  <dcterms:created xsi:type="dcterms:W3CDTF">2026-10-18T04:24:51Z</dcterms:created>
  <dcterms:modified xsi:type="dcterms:W3CDTF">2026-10-18T04:24:51Z</dcterms:modified>
</cp:coreProperties>
</file>